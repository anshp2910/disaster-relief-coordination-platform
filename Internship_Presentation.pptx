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06CEC9-577B-4265-90A1-804B1619C0B0}" type="datetimeFigureOut">
              <a:rPr lang="en-US" smtClean="0"/>
              <a:t>11-Aug-26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0137CE-DD9B-466C-82A0-AB97790DB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401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0137CE-DD9B-466C-82A0-AB97790DB3B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9804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0137CE-DD9B-466C-82A0-AB97790DB3B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9833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0137CE-DD9B-466C-82A0-AB97790DB3B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1082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0137CE-DD9B-466C-82A0-AB97790DB3B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2519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0137CE-DD9B-466C-82A0-AB97790DB3B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9858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0137CE-DD9B-466C-82A0-AB97790DB3B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1455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11-Aug-26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11-Aug-26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11-Aug-26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ansh-patel-95a161304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832" y="0"/>
            <a:ext cx="12191695" cy="6858000"/>
          </a:xfrm>
          <a:prstGeom prst="rect">
            <a:avLst/>
          </a:prstGeom>
          <a:solidFill>
            <a:srgbClr val="00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0"/>
            <a:ext cx="54864" cy="68580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548640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4A90D9"/>
                </a:solidFill>
                <a:latin typeface="Calibri"/>
              </a:defRPr>
            </a:pPr>
            <a:r>
              <a:t>Gujarat Technological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914400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C. K. Pithawala College of Engineering and Technology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371600"/>
            <a:ext cx="2286000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1554480"/>
            <a:ext cx="7315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0070C0"/>
                </a:solidFill>
                <a:latin typeface="Calibri"/>
              </a:defRPr>
            </a:pPr>
            <a:r>
              <a:t>INTERNSHIP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03120"/>
            <a:ext cx="91440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Disaster Relief Coordination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108960"/>
            <a:ext cx="7315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>
                <a:solidFill>
                  <a:srgbClr val="BBCCEE"/>
                </a:solidFill>
                <a:latin typeface="Calibri"/>
              </a:defRPr>
            </a:pPr>
            <a:r>
              <a:t>A Full-Stack Government Disaster Management Web 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93192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4A90D9"/>
                </a:solidFill>
                <a:latin typeface="Calibri"/>
              </a:defRPr>
            </a:pPr>
            <a:r>
              <a:t>Presented by: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29768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rPr dirty="0"/>
              <a:t>Ansh</a:t>
            </a:r>
            <a:r>
              <a:rPr lang="en-US" dirty="0"/>
              <a:t> S</a:t>
            </a:r>
            <a:r>
              <a:rPr dirty="0"/>
              <a:t> Patel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66344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BBCCEE"/>
                </a:solidFill>
                <a:latin typeface="Calibri"/>
              </a:defRPr>
            </a:pPr>
            <a:r>
              <a:t>Information Technology | Web Developer Intern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303520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AABBDD"/>
                </a:solidFill>
                <a:latin typeface="Calibri"/>
              </a:defRPr>
            </a:pPr>
            <a:r>
              <a:t>Industry Mentor: Nehal Patel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577840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AABBDD"/>
                </a:solidFill>
                <a:latin typeface="Calibri"/>
              </a:defRPr>
            </a:pPr>
            <a:r>
              <a:rPr dirty="0"/>
              <a:t>Faculty Guide: </a:t>
            </a:r>
            <a:r>
              <a:rPr lang="en-US" dirty="0"/>
              <a:t>Disha N Chavda</a:t>
            </a:r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1097280" y="5852160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AABBDD"/>
                </a:solidFill>
                <a:latin typeface="Calibri"/>
              </a:defRPr>
            </a:pPr>
            <a:r>
              <a:rPr dirty="0"/>
              <a:t>Internship Duration: </a:t>
            </a:r>
            <a:r>
              <a:rPr lang="en-US" dirty="0"/>
              <a:t> 01 </a:t>
            </a:r>
            <a:r>
              <a:rPr dirty="0"/>
              <a:t>J</a:t>
            </a:r>
            <a:r>
              <a:rPr lang="en-US" dirty="0"/>
              <a:t>ul</a:t>
            </a:r>
            <a:r>
              <a:rPr dirty="0"/>
              <a:t>y 2026 – </a:t>
            </a:r>
            <a:r>
              <a:rPr lang="en-US" dirty="0"/>
              <a:t> 20 </a:t>
            </a:r>
            <a:r>
              <a:rPr dirty="0"/>
              <a:t>Ju</a:t>
            </a:r>
            <a:r>
              <a:rPr lang="en-US" dirty="0"/>
              <a:t>ly</a:t>
            </a:r>
            <a:r>
              <a:rPr dirty="0"/>
              <a:t>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931920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100" b="1">
                <a:solidFill>
                  <a:srgbClr val="4A90D9"/>
                </a:solidFill>
                <a:latin typeface="Calibri"/>
              </a:defRPr>
            </a:pPr>
            <a:r>
              <a:t>In Association With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4297680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Metanoia Solution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66344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100" b="0">
                <a:solidFill>
                  <a:srgbClr val="4A90D9"/>
                </a:solidFill>
                <a:latin typeface="Calibri"/>
              </a:defRPr>
            </a:pPr>
            <a:r>
              <a:t>metanoiasolution.com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57200"/>
            <a:ext cx="1463040" cy="1463040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8046720" y="914400"/>
            <a:ext cx="14630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AACCEE"/>
                </a:solidFill>
                <a:latin typeface="Calibri"/>
              </a:defRPr>
            </a:pPr>
            <a:endParaRPr dirty="0"/>
          </a:p>
        </p:txBody>
      </p:sp>
      <p:sp>
        <p:nvSpPr>
          <p:cNvPr id="23" name="Rounded Rectangle 22"/>
          <p:cNvSpPr/>
          <p:nvPr/>
        </p:nvSpPr>
        <p:spPr>
          <a:xfrm>
            <a:off x="9875520" y="457200"/>
            <a:ext cx="1463040" cy="1463040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875520" y="914400"/>
            <a:ext cx="14630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AACCEE"/>
                </a:solidFill>
                <a:latin typeface="Calibri"/>
              </a:defRPr>
            </a:pPr>
            <a:endParaRPr dirty="0"/>
          </a:p>
        </p:txBody>
      </p:sp>
      <p:sp>
        <p:nvSpPr>
          <p:cNvPr id="25" name="Rectangle 2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Metanoia Solution - Preview">
            <a:extLst>
              <a:ext uri="{FF2B5EF4-FFF2-40B4-BE49-F238E27FC236}">
                <a16:creationId xmlns:a16="http://schemas.microsoft.com/office/drawing/2014/main" id="{3081275D-39BA-9638-DED4-BB733C9570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4543" y="628180"/>
            <a:ext cx="1284994" cy="11549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7491108-CB12-0EDE-5003-1573DFF46E1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135874" y="548640"/>
            <a:ext cx="1284732" cy="12847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114300"/>
            <a:ext cx="12192000" cy="66979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1" cy="1097280"/>
          </a:xfrm>
          <a:prstGeom prst="rect">
            <a:avLst/>
          </a:prstGeom>
          <a:solidFill>
            <a:srgbClr val="002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Presentation Outline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4A90D9"/>
                </a:solidFill>
                <a:latin typeface="Calibri"/>
              </a:defRPr>
            </a:pPr>
            <a:r>
              <a:rPr dirty="0"/>
              <a:t>Journey through the internship experience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5896" y="1415181"/>
            <a:ext cx="1463040" cy="146304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D6E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41966" y="1796108"/>
            <a:ext cx="411480" cy="41148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0676" y="1851660"/>
            <a:ext cx="4114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" y="2295833"/>
            <a:ext cx="12801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rPr dirty="0"/>
              <a:t>Company</a:t>
            </a:r>
            <a:br>
              <a:rPr dirty="0"/>
            </a:br>
            <a:r>
              <a:rPr dirty="0"/>
              <a:t>Profile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20240" y="1466235"/>
            <a:ext cx="1463040" cy="146304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D6E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404356" y="1665585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11730" y="1731092"/>
            <a:ext cx="4114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46664" y="2286000"/>
            <a:ext cx="12801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rPr dirty="0"/>
              <a:t>Technology</a:t>
            </a:r>
            <a:br>
              <a:rPr dirty="0"/>
            </a:br>
            <a:r>
              <a:rPr dirty="0"/>
              <a:t>Stack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49040" y="1491554"/>
            <a:ext cx="1463040" cy="146304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D6E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Oval 14"/>
          <p:cNvSpPr/>
          <p:nvPr/>
        </p:nvSpPr>
        <p:spPr>
          <a:xfrm>
            <a:off x="4305054" y="1737360"/>
            <a:ext cx="411480" cy="411480"/>
          </a:xfrm>
          <a:prstGeom prst="ellipse">
            <a:avLst/>
          </a:prstGeom>
          <a:solidFill>
            <a:srgbClr val="F09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74820" y="1783080"/>
            <a:ext cx="4114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29050" y="2207588"/>
            <a:ext cx="12801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rPr dirty="0"/>
              <a:t>Internship</a:t>
            </a:r>
            <a:br>
              <a:rPr dirty="0"/>
            </a:br>
            <a:r>
              <a:rPr dirty="0"/>
              <a:t>Objectives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74970" y="1491554"/>
            <a:ext cx="1463040" cy="146304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D6E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000748" y="1729904"/>
            <a:ext cx="411480" cy="41148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77889" y="1791602"/>
            <a:ext cx="4114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43549" y="2260600"/>
            <a:ext cx="12801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Project</a:t>
            </a:r>
            <a:br/>
            <a:r>
              <a:t>Overview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23760" y="1508760"/>
            <a:ext cx="1463040" cy="146304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D6E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840980" y="1645920"/>
            <a:ext cx="411480" cy="4114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840980" y="1691640"/>
            <a:ext cx="4114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2148840"/>
            <a:ext cx="12801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System</a:t>
            </a:r>
            <a:br/>
            <a:r>
              <a:t>Architecture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8248" y="1463040"/>
            <a:ext cx="1463040" cy="146304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D6E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532620" y="1645920"/>
            <a:ext cx="411480" cy="411480"/>
          </a:xfrm>
          <a:prstGeom prst="ellipse">
            <a:avLst/>
          </a:prstGeom>
          <a:solidFill>
            <a:srgbClr val="0EA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532620" y="1691640"/>
            <a:ext cx="4114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80" y="2148840"/>
            <a:ext cx="12801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Major</a:t>
            </a:r>
            <a:br/>
            <a:r>
              <a:t>Modules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629899" y="1463040"/>
            <a:ext cx="1463040" cy="146304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D6E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1224260" y="1645920"/>
            <a:ext cx="411480" cy="411480"/>
          </a:xfrm>
          <a:prstGeom prst="ellipse">
            <a:avLst/>
          </a:prstGeom>
          <a:solidFill>
            <a:srgbClr val="E84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224260" y="1691640"/>
            <a:ext cx="4114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2148840"/>
            <a:ext cx="12801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Work</a:t>
            </a:r>
            <a:br/>
            <a:r>
              <a:t>Performed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90500" y="3108960"/>
            <a:ext cx="1463040" cy="146304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D6E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751676" y="3344443"/>
            <a:ext cx="411480" cy="41148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08661" y="3402945"/>
            <a:ext cx="4114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3990" y="3840480"/>
            <a:ext cx="12801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rPr dirty="0"/>
              <a:t>Implement-</a:t>
            </a:r>
            <a:br>
              <a:rPr dirty="0"/>
            </a:br>
            <a:r>
              <a:rPr dirty="0" err="1"/>
              <a:t>tation</a:t>
            </a:r>
            <a:endParaRPr dirty="0"/>
          </a:p>
        </p:txBody>
      </p:sp>
      <p:sp>
        <p:nvSpPr>
          <p:cNvPr id="38" name="Rounded Rectangle 37"/>
          <p:cNvSpPr/>
          <p:nvPr/>
        </p:nvSpPr>
        <p:spPr>
          <a:xfrm>
            <a:off x="1920240" y="3171887"/>
            <a:ext cx="1463040" cy="146304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D6E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9" name="Oval 38"/>
          <p:cNvSpPr/>
          <p:nvPr/>
        </p:nvSpPr>
        <p:spPr>
          <a:xfrm>
            <a:off x="2444269" y="3381886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461414" y="3421953"/>
            <a:ext cx="4114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09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02770" y="3873500"/>
            <a:ext cx="12801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rPr dirty="0"/>
              <a:t>Testing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705840" y="3171887"/>
            <a:ext cx="1463040" cy="146304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D6E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3" name="Oval 42"/>
          <p:cNvSpPr/>
          <p:nvPr/>
        </p:nvSpPr>
        <p:spPr>
          <a:xfrm>
            <a:off x="4274820" y="3357962"/>
            <a:ext cx="411480" cy="411480"/>
          </a:xfrm>
          <a:prstGeom prst="ellipse">
            <a:avLst/>
          </a:prstGeom>
          <a:solidFill>
            <a:srgbClr val="F09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238615" y="3423223"/>
            <a:ext cx="4114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04275" y="3914713"/>
            <a:ext cx="12801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rPr dirty="0"/>
              <a:t>Results &amp;</a:t>
            </a:r>
            <a:br>
              <a:rPr dirty="0"/>
            </a:br>
            <a:r>
              <a:rPr dirty="0"/>
              <a:t>Achievements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74970" y="3154680"/>
            <a:ext cx="1463040" cy="146304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D6E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6075526" y="3357880"/>
            <a:ext cx="411480" cy="41148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073063" y="3402945"/>
            <a:ext cx="4114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04510" y="3873500"/>
            <a:ext cx="12801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Learning</a:t>
            </a:r>
            <a:br/>
            <a:r>
              <a:t>Outcomes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235190" y="3187864"/>
            <a:ext cx="1463040" cy="146304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D6E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7840980" y="3337560"/>
            <a:ext cx="411480" cy="4114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840980" y="3383280"/>
            <a:ext cx="4114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06640" y="3840480"/>
            <a:ext cx="12801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Challenges &amp;</a:t>
            </a:r>
            <a:br/>
            <a:r>
              <a:t>Solutions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995410" y="3154680"/>
            <a:ext cx="1463040" cy="146304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D6E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9532620" y="3337560"/>
            <a:ext cx="411480" cy="411480"/>
          </a:xfrm>
          <a:prstGeom prst="ellipse">
            <a:avLst/>
          </a:prstGeom>
          <a:solidFill>
            <a:srgbClr val="0EA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532620" y="3383280"/>
            <a:ext cx="4114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98280" y="3840480"/>
            <a:ext cx="12801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Future</a:t>
            </a:r>
            <a:br/>
            <a:r>
              <a:t>Scope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618469" y="3154680"/>
            <a:ext cx="1463040" cy="146304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D6E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9" name="Oval 58"/>
          <p:cNvSpPr/>
          <p:nvPr/>
        </p:nvSpPr>
        <p:spPr>
          <a:xfrm>
            <a:off x="11224260" y="3337560"/>
            <a:ext cx="411480" cy="411480"/>
          </a:xfrm>
          <a:prstGeom prst="ellipse">
            <a:avLst/>
          </a:prstGeom>
          <a:solidFill>
            <a:srgbClr val="E84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1224260" y="3383280"/>
            <a:ext cx="4114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14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789920" y="3840480"/>
            <a:ext cx="12801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-18976" y="6708304"/>
            <a:ext cx="12210976" cy="15258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016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Company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4A90D9"/>
                </a:solidFill>
                <a:latin typeface="Calibri"/>
              </a:defRPr>
            </a:pPr>
            <a:r>
              <a:t>Metanoia Solutions — Empowering Businesses Through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002B5E"/>
                </a:solidFill>
                <a:latin typeface="Calibri"/>
              </a:defRPr>
            </a:pPr>
            <a:r>
              <a:t>🔷 About the Company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530352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Metanoia Solutions is a dynamic IT services and consulting company headquartered in Surat, Gujarat. With over 7+ years of experience, the company has successfully delivered 25+ projects for 19+ organizations across diverse domains including healthcare, education, e-commerce, and government.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74720"/>
            <a:ext cx="2560320" cy="137160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D6E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3566160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002B5E"/>
                </a:solidFill>
                <a:latin typeface="Calibri"/>
              </a:defRPr>
            </a:pPr>
            <a:r>
              <a:t>🎯 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40480"/>
            <a:ext cx="21945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Transform manual processes into efficient, scalable, automated digital systems for startups and SMEs.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3474720"/>
            <a:ext cx="2560320" cy="137160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D6E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0" y="3566160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002B5E"/>
                </a:solidFill>
                <a:latin typeface="Calibri"/>
              </a:defRPr>
            </a:pPr>
            <a:r>
              <a:t>👁️ Vision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840480"/>
            <a:ext cx="21945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Be a leading technology partner driving digital transformation through innovation and quality.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1463040"/>
            <a:ext cx="457200" cy="457200"/>
          </a:xfrm>
          <a:prstGeom prst="ellipse">
            <a:avLst/>
          </a:prstGeom>
          <a:solidFill>
            <a:srgbClr val="0070C0"/>
          </a:solidFill>
          <a:ln>
            <a:noFill/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0" y="146304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>
                <a:solidFill>
                  <a:srgbClr val="FFFFFF"/>
                </a:solidFill>
                <a:latin typeface="Segoe UI Emoji"/>
              </a:defRPr>
            </a:pPr>
            <a:r>
              <a:t>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371600"/>
            <a:ext cx="1828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002B5E"/>
                </a:solidFill>
                <a:latin typeface="Calibri"/>
              </a:defRPr>
            </a:pPr>
            <a:r>
              <a:t>Services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645920"/>
            <a:ext cx="2286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Web Dev, Mobile Apps,</a:t>
            </a:r>
            <a:br/>
            <a:r>
              <a:t>UI/UX, Cloud, AI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2697480"/>
            <a:ext cx="457200" cy="457200"/>
          </a:xfrm>
          <a:prstGeom prst="ellipse">
            <a:avLst/>
          </a:prstGeom>
          <a:solidFill>
            <a:srgbClr val="0070C0"/>
          </a:solidFill>
          <a:ln>
            <a:noFill/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0" y="269748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>
                <a:solidFill>
                  <a:srgbClr val="FFFFFF"/>
                </a:solidFill>
                <a:latin typeface="Segoe UI Emoji"/>
              </a:defRPr>
            </a:pPr>
            <a:r>
              <a:t>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606040"/>
            <a:ext cx="1828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002B5E"/>
                </a:solidFill>
                <a:latin typeface="Calibri"/>
              </a:defRPr>
            </a:pPr>
            <a:r>
              <a:t>Clients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880360"/>
            <a:ext cx="2286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19+ Organizations</a:t>
            </a:r>
            <a:br/>
            <a:r>
              <a:t>Across Industries</a:t>
            </a:r>
          </a:p>
        </p:txBody>
      </p:sp>
      <p:sp>
        <p:nvSpPr>
          <p:cNvPr id="22" name="Oval 21"/>
          <p:cNvSpPr/>
          <p:nvPr/>
        </p:nvSpPr>
        <p:spPr>
          <a:xfrm>
            <a:off x="6217920" y="3931920"/>
            <a:ext cx="457200" cy="457200"/>
          </a:xfrm>
          <a:prstGeom prst="ellipse">
            <a:avLst/>
          </a:prstGeom>
          <a:solidFill>
            <a:srgbClr val="0070C0"/>
          </a:solidFill>
          <a:ln>
            <a:noFill/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17920" y="393192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>
                <a:solidFill>
                  <a:srgbClr val="FFFFFF"/>
                </a:solidFill>
                <a:latin typeface="Segoe UI Emoji"/>
              </a:defRPr>
            </a:pPr>
            <a:r>
              <a:t>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840480"/>
            <a:ext cx="1828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002B5E"/>
                </a:solidFill>
                <a:latin typeface="Calibri"/>
              </a:defRPr>
            </a:pPr>
            <a:r>
              <a:t>Technologies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4114800"/>
            <a:ext cx="2286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MERN, Flutter, Laravel,</a:t>
            </a:r>
            <a:br/>
            <a:r>
              <a:t>Python, Docker</a:t>
            </a:r>
          </a:p>
        </p:txBody>
      </p:sp>
      <p:sp>
        <p:nvSpPr>
          <p:cNvPr id="26" name="Oval 25"/>
          <p:cNvSpPr/>
          <p:nvPr/>
        </p:nvSpPr>
        <p:spPr>
          <a:xfrm>
            <a:off x="6217920" y="5166360"/>
            <a:ext cx="457200" cy="457200"/>
          </a:xfrm>
          <a:prstGeom prst="ellipse">
            <a:avLst/>
          </a:prstGeom>
          <a:solidFill>
            <a:srgbClr val="0070C0"/>
          </a:solidFill>
          <a:ln>
            <a:noFill/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17920" y="51663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>
                <a:solidFill>
                  <a:srgbClr val="FFFFFF"/>
                </a:solidFill>
                <a:latin typeface="Segoe UI Emoji"/>
              </a:defRPr>
            </a:pPr>
            <a:r>
              <a:t>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5074920"/>
            <a:ext cx="1828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002B5E"/>
                </a:solidFill>
                <a:latin typeface="Calibri"/>
              </a:defRPr>
            </a:pPr>
            <a:r>
              <a:t>Office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5349240"/>
            <a:ext cx="2286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Surat, Gujarat, India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5120640"/>
            <a:ext cx="5029200" cy="1280160"/>
          </a:xfrm>
          <a:prstGeom prst="roundRect">
            <a:avLst/>
          </a:prstGeom>
          <a:solidFill>
            <a:srgbClr val="00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0" y="521208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🔹 Internship Details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486400"/>
            <a:ext cx="45720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CCDDEE"/>
                </a:solidFill>
                <a:latin typeface="Calibri"/>
              </a:defRPr>
            </a:pPr>
            <a:r>
              <a:rPr dirty="0"/>
              <a:t>Department: Web Development</a:t>
            </a:r>
            <a:br>
              <a:rPr dirty="0"/>
            </a:br>
            <a:r>
              <a:rPr dirty="0"/>
              <a:t>Mentor: Nehal Patel</a:t>
            </a:r>
            <a:br>
              <a:rPr dirty="0"/>
            </a:br>
            <a:r>
              <a:rPr dirty="0"/>
              <a:t>Duration: </a:t>
            </a:r>
            <a:r>
              <a:rPr lang="en-US" dirty="0"/>
              <a:t>01 </a:t>
            </a:r>
            <a:r>
              <a:rPr dirty="0"/>
              <a:t>J</a:t>
            </a:r>
            <a:r>
              <a:rPr lang="en-US" dirty="0"/>
              <a:t>ul</a:t>
            </a:r>
            <a:r>
              <a:rPr dirty="0"/>
              <a:t>y 2026 – </a:t>
            </a:r>
            <a:r>
              <a:rPr lang="en-US" dirty="0"/>
              <a:t>20 </a:t>
            </a:r>
            <a:r>
              <a:rPr dirty="0"/>
              <a:t>Ju</a:t>
            </a:r>
            <a:r>
              <a:rPr lang="en-US" dirty="0"/>
              <a:t>ly</a:t>
            </a:r>
            <a:r>
              <a:rPr dirty="0"/>
              <a:t> 2026</a:t>
            </a:r>
            <a:br>
              <a:rPr dirty="0"/>
            </a:br>
            <a:r>
              <a:rPr dirty="0"/>
              <a:t>Role: Web Developer Intern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Domain &amp; 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4A90D9"/>
                </a:solidFill>
                <a:latin typeface="Calibri"/>
              </a:defRPr>
            </a:pPr>
            <a:r>
              <a:t>MERN Stack — Modern Full-Stack Web Development Technologies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265176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FA"/>
            </a:solidFill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651760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94360" y="1554480"/>
            <a:ext cx="457200" cy="457200"/>
          </a:xfrm>
          <a:prstGeom prst="ellipse">
            <a:avLst/>
          </a:prstGeom>
          <a:solidFill>
            <a:srgbClr val="0070C0"/>
          </a:solidFill>
          <a:ln>
            <a:noFill/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55448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>
                <a:solidFill>
                  <a:srgbClr val="FFFFFF"/>
                </a:solidFill>
                <a:latin typeface="Segoe UI Emoji"/>
              </a:defRPr>
            </a:pPr>
            <a:r>
              <a:t>⚛️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600200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0070C0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103120"/>
            <a:ext cx="237744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React.js</a:t>
            </a:r>
            <a:br/>
            <a:r>
              <a:t>TypeScript</a:t>
            </a:r>
            <a:br/>
            <a:r>
              <a:t>Tailwind CSS</a:t>
            </a:r>
            <a:br/>
            <a:r>
              <a:t>Vite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0128" y="1371600"/>
            <a:ext cx="265176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FA"/>
            </a:solidFill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310128" y="1371600"/>
            <a:ext cx="26517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447288" y="155448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47288" y="155448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>
                <a:solidFill>
                  <a:srgbClr val="FFFFFF"/>
                </a:solidFill>
                <a:latin typeface="Segoe UI Emoji"/>
              </a:defRPr>
            </a:pPr>
            <a:r>
              <a:t>🖥️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95928" y="1600200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47288" y="2103120"/>
            <a:ext cx="237744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Node.js</a:t>
            </a:r>
            <a:br/>
            <a:r>
              <a:t>Express.js</a:t>
            </a:r>
            <a:br/>
            <a:r>
              <a:t>REST APIs</a:t>
            </a:r>
            <a:br/>
            <a:r>
              <a:t>JWT Auth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3056" y="1371600"/>
            <a:ext cx="265176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FA"/>
            </a:solidFill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63056" y="1371600"/>
            <a:ext cx="2651760" cy="54864"/>
          </a:xfrm>
          <a:prstGeom prst="rect">
            <a:avLst/>
          </a:prstGeom>
          <a:solidFill>
            <a:srgbClr val="F09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300216" y="1554480"/>
            <a:ext cx="457200" cy="457200"/>
          </a:xfrm>
          <a:prstGeom prst="ellipse">
            <a:avLst/>
          </a:prstGeom>
          <a:solidFill>
            <a:srgbClr val="F0920A"/>
          </a:solidFill>
          <a:ln>
            <a:noFill/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00216" y="155448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>
                <a:solidFill>
                  <a:srgbClr val="FFFFFF"/>
                </a:solidFill>
                <a:latin typeface="Segoe UI Emoji"/>
              </a:defRPr>
            </a:pPr>
            <a:r>
              <a:t>🗄️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48856" y="1600200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F0920A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0216" y="2103120"/>
            <a:ext cx="237744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MongoDB Atlas</a:t>
            </a:r>
            <a:br/>
            <a:r>
              <a:t>Mongoose ODM</a:t>
            </a:r>
            <a:br/>
            <a:r>
              <a:t>GeoJSON</a:t>
            </a:r>
            <a:br/>
            <a:r>
              <a:t>Indexes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15984" y="1371600"/>
            <a:ext cx="265176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FA"/>
            </a:solidFill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015984" y="1371600"/>
            <a:ext cx="265176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153144" y="1554480"/>
            <a:ext cx="457200" cy="457200"/>
          </a:xfrm>
          <a:prstGeom prst="ellipse">
            <a:avLst/>
          </a:prstGeom>
          <a:solidFill>
            <a:srgbClr val="EF4444"/>
          </a:solidFill>
          <a:ln>
            <a:noFill/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53144" y="155448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>
                <a:solidFill>
                  <a:srgbClr val="FFFFFF"/>
                </a:solidFill>
                <a:latin typeface="Segoe UI Emoji"/>
              </a:defRPr>
            </a:pPr>
            <a:r>
              <a:t>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01784" y="1600200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EF4444"/>
                </a:solidFill>
                <a:latin typeface="Calibri"/>
              </a:defRPr>
            </a:pPr>
            <a:r>
              <a:t>Auth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3144" y="2103120"/>
            <a:ext cx="237744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JWT Tokens</a:t>
            </a:r>
            <a:br/>
            <a:r>
              <a:t>bcrypt</a:t>
            </a:r>
            <a:br/>
            <a:r>
              <a:t>Role-based</a:t>
            </a:r>
            <a:br/>
            <a:r>
              <a:t>Access Control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675888"/>
            <a:ext cx="265176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FA"/>
            </a:solidFill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57200" y="3675888"/>
            <a:ext cx="265176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594360" y="3858768"/>
            <a:ext cx="457200" cy="457200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4360" y="385876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>
                <a:solidFill>
                  <a:srgbClr val="FFFFFF"/>
                </a:solidFill>
                <a:latin typeface="Segoe UI Emoji"/>
              </a:defRPr>
            </a:pPr>
            <a:r>
              <a:t>🗺️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390448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8B5CF6"/>
                </a:solidFill>
                <a:latin typeface="Calibri"/>
              </a:defRPr>
            </a:pPr>
            <a:r>
              <a:t>GIS Mapping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4407408"/>
            <a:ext cx="237744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Leaflet.js</a:t>
            </a:r>
            <a:br/>
            <a:r>
              <a:t>OpenStreetMap</a:t>
            </a:r>
            <a:br/>
            <a:r>
              <a:t>Geo-fencing</a:t>
            </a:r>
            <a:br/>
            <a:r>
              <a:t>Heat Maps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10128" y="3675888"/>
            <a:ext cx="265176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FA"/>
            </a:solidFill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310128" y="3675888"/>
            <a:ext cx="2651760" cy="54864"/>
          </a:xfrm>
          <a:prstGeom prst="rect">
            <a:avLst/>
          </a:prstGeom>
          <a:solidFill>
            <a:srgbClr val="0EA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3447288" y="3858768"/>
            <a:ext cx="457200" cy="457200"/>
          </a:xfrm>
          <a:prstGeom prst="ellipse">
            <a:avLst/>
          </a:prstGeom>
          <a:solidFill>
            <a:srgbClr val="0EA59E"/>
          </a:solidFill>
          <a:ln>
            <a:noFill/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447288" y="385876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>
                <a:solidFill>
                  <a:srgbClr val="FFFFFF"/>
                </a:solidFill>
                <a:latin typeface="Segoe UI Emoji"/>
              </a:defRPr>
            </a:pPr>
            <a:r>
              <a:t>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95928" y="390448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0EA59E"/>
                </a:solidFill>
                <a:latin typeface="Calibri"/>
              </a:defRPr>
            </a:pPr>
            <a:r>
              <a:t>Real-Time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47288" y="4407408"/>
            <a:ext cx="237744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Socket.IO</a:t>
            </a:r>
            <a:br/>
            <a:r>
              <a:t>WebSockets</a:t>
            </a:r>
            <a:br/>
            <a:r>
              <a:t>Live Updates</a:t>
            </a:r>
            <a:br/>
            <a:r>
              <a:t>Chat System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63056" y="3675888"/>
            <a:ext cx="265176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FA"/>
            </a:solidFill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163056" y="3675888"/>
            <a:ext cx="2651760" cy="54864"/>
          </a:xfrm>
          <a:prstGeom prst="rect">
            <a:avLst/>
          </a:prstGeom>
          <a:solidFill>
            <a:srgbClr val="E84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6300216" y="3858768"/>
            <a:ext cx="457200" cy="457200"/>
          </a:xfrm>
          <a:prstGeom prst="ellipse">
            <a:avLst/>
          </a:prstGeom>
          <a:solidFill>
            <a:srgbClr val="E84D8A"/>
          </a:solidFill>
          <a:ln>
            <a:noFill/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300216" y="385876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>
                <a:solidFill>
                  <a:srgbClr val="FFFFFF"/>
                </a:solidFill>
                <a:latin typeface="Segoe UI Emoji"/>
              </a:defRPr>
            </a:pPr>
            <a:r>
              <a:t>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48856" y="390448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E84D8A"/>
                </a:solidFill>
                <a:latin typeface="Calibri"/>
              </a:defRPr>
            </a:pPr>
            <a:r>
              <a:t>Deployment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0216" y="4407408"/>
            <a:ext cx="237744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Render Cloud</a:t>
            </a:r>
            <a:br/>
            <a:r>
              <a:t>Docker</a:t>
            </a:r>
            <a:br/>
            <a:r>
              <a:t>CI/CD (GitHub Actions)</a:t>
            </a:r>
            <a:br/>
            <a:r>
              <a:t>Nginx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015984" y="3675888"/>
            <a:ext cx="265176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FA"/>
            </a:solidFill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9015984" y="3675888"/>
            <a:ext cx="2651760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9153144" y="3858768"/>
            <a:ext cx="457200" cy="457200"/>
          </a:xfrm>
          <a:prstGeom prst="ellipse">
            <a:avLst/>
          </a:prstGeom>
          <a:solidFill>
            <a:srgbClr val="0070C0"/>
          </a:solidFill>
          <a:ln>
            <a:noFill/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53144" y="385876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>
                <a:solidFill>
                  <a:srgbClr val="FFFFFF"/>
                </a:solidFill>
                <a:latin typeface="Segoe UI Emoji"/>
              </a:defRPr>
            </a:pPr>
            <a:r>
              <a:t>📦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01784" y="390448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0070C0"/>
                </a:solidFill>
                <a:latin typeface="Calibri"/>
              </a:defRPr>
            </a:pPr>
            <a:r>
              <a:t>Version Ctrl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53144" y="4407408"/>
            <a:ext cx="237744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Git</a:t>
            </a:r>
            <a:br/>
            <a:r>
              <a:t>GitHub</a:t>
            </a:r>
            <a:br/>
            <a:r>
              <a:t>Feature Branches</a:t>
            </a:r>
            <a:br/>
            <a:r>
              <a:t>Code Reviews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03811" y="5728716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002B5E"/>
                </a:solidFill>
                <a:latin typeface="Calibri"/>
              </a:defRPr>
            </a:pPr>
            <a:r>
              <a:rPr dirty="0"/>
              <a:t>📊 Technology Architecture Flow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31520" y="6035040"/>
            <a:ext cx="1700784" cy="54864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72034" y="6076237"/>
            <a:ext cx="18288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rPr dirty="0"/>
              <a:t>React.js</a:t>
            </a:r>
            <a:br>
              <a:rPr dirty="0"/>
            </a:br>
            <a:r>
              <a:rPr dirty="0"/>
              <a:t>Frontend</a:t>
            </a:r>
          </a:p>
        </p:txBody>
      </p:sp>
      <p:sp>
        <p:nvSpPr>
          <p:cNvPr id="57" name="Right Arrow 56"/>
          <p:cNvSpPr/>
          <p:nvPr/>
        </p:nvSpPr>
        <p:spPr>
          <a:xfrm>
            <a:off x="2445578" y="6158484"/>
            <a:ext cx="1463040" cy="320040"/>
          </a:xfrm>
          <a:prstGeom prst="rightArrow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3936934" y="6035040"/>
            <a:ext cx="1527048" cy="548639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9" name="TextBox 58"/>
          <p:cNvSpPr txBox="1"/>
          <p:nvPr/>
        </p:nvSpPr>
        <p:spPr>
          <a:xfrm>
            <a:off x="4085107" y="6128938"/>
            <a:ext cx="112835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rPr dirty="0"/>
              <a:t>Express.js</a:t>
            </a:r>
            <a:br>
              <a:rPr dirty="0"/>
            </a:br>
            <a:r>
              <a:rPr dirty="0"/>
              <a:t>API Layer</a:t>
            </a:r>
          </a:p>
        </p:txBody>
      </p:sp>
      <p:sp>
        <p:nvSpPr>
          <p:cNvPr id="60" name="Right Arrow 59"/>
          <p:cNvSpPr/>
          <p:nvPr/>
        </p:nvSpPr>
        <p:spPr>
          <a:xfrm>
            <a:off x="5469489" y="6174658"/>
            <a:ext cx="1463040" cy="320040"/>
          </a:xfrm>
          <a:prstGeom prst="rightArrow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6968612" y="6128938"/>
            <a:ext cx="1828800" cy="454742"/>
          </a:xfrm>
          <a:prstGeom prst="roundRect">
            <a:avLst/>
          </a:prstGeom>
          <a:solidFill>
            <a:srgbClr val="F09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004695" y="6158484"/>
            <a:ext cx="18288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rPr dirty="0"/>
              <a:t>MongoDB</a:t>
            </a:r>
            <a:br>
              <a:rPr dirty="0"/>
            </a:br>
            <a:r>
              <a:rPr dirty="0"/>
              <a:t>Database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Internship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4A90D9"/>
                </a:solidFill>
                <a:latin typeface="Calibri"/>
              </a:defRPr>
            </a:pPr>
            <a:r>
              <a:t>Goals, Responsibilities &amp; Learning Outcomes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265176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FA"/>
            </a:solidFill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651760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371600" y="1600200"/>
            <a:ext cx="640080" cy="640080"/>
          </a:xfrm>
          <a:prstGeom prst="ellipse">
            <a:avLst/>
          </a:prstGeom>
          <a:solidFill>
            <a:srgbClr val="0070C0"/>
          </a:solidFill>
          <a:ln>
            <a:noFill/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160020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Segoe UI Emoji"/>
              </a:defRPr>
            </a:pPr>
            <a:r>
              <a:t>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2286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0070C0"/>
                </a:solidFill>
                <a:latin typeface="Calibri"/>
              </a:defRPr>
            </a:pPr>
            <a:r>
              <a:t>Primary</a:t>
            </a:r>
            <a:br/>
            <a:r>
              <a:t>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08960"/>
            <a:ext cx="22860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Build a full-stack disaster</a:t>
            </a:r>
            <a:br/>
            <a:r>
              <a:t>relief coordination platform</a:t>
            </a:r>
            <a:br/>
            <a:r>
              <a:t>using the MERN stack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108960" y="2743200"/>
            <a:ext cx="274320" cy="228600"/>
          </a:xfrm>
          <a:prstGeom prst="rightArrow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337560" y="1371600"/>
            <a:ext cx="265176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FA"/>
            </a:solidFill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37560" y="1371600"/>
            <a:ext cx="26517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251960" y="160020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51960" y="160020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Segoe UI Emoji"/>
              </a:defRPr>
            </a:pPr>
            <a:r>
              <a:t>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377440"/>
            <a:ext cx="2286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10B981"/>
                </a:solidFill>
                <a:latin typeface="Calibri"/>
              </a:defRPr>
            </a:pPr>
            <a:r>
              <a:t>Problem</a:t>
            </a:r>
            <a:br/>
            <a:r>
              <a:t>Statement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108960"/>
            <a:ext cx="22860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Lack of centralized coordination</a:t>
            </a:r>
            <a:br/>
            <a:r>
              <a:t>in disaster management leads to</a:t>
            </a:r>
            <a:br/>
            <a:r>
              <a:t>delayed response &amp; poor resource allocation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989320" y="2743200"/>
            <a:ext cx="274320" cy="228600"/>
          </a:xfrm>
          <a:prstGeom prst="rightArrow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17920" y="1371600"/>
            <a:ext cx="265176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FA"/>
            </a:solidFill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0" y="1371600"/>
            <a:ext cx="2651760" cy="54864"/>
          </a:xfrm>
          <a:prstGeom prst="rect">
            <a:avLst/>
          </a:prstGeom>
          <a:solidFill>
            <a:srgbClr val="F09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132320" y="1600200"/>
            <a:ext cx="640080" cy="640080"/>
          </a:xfrm>
          <a:prstGeom prst="ellipse">
            <a:avLst/>
          </a:prstGeom>
          <a:solidFill>
            <a:srgbClr val="F0920A"/>
          </a:solidFill>
          <a:ln>
            <a:noFill/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32320" y="160020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Segoe UI Emoji"/>
              </a:defRPr>
            </a:pPr>
            <a:r>
              <a:t>👨‍💻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377440"/>
            <a:ext cx="2286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F0920A"/>
                </a:solidFill>
                <a:latin typeface="Calibri"/>
              </a:defRPr>
            </a:pPr>
            <a:r>
              <a:t>Key</a:t>
            </a:r>
            <a:br/>
            <a:r>
              <a:t>Responsibilities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108960"/>
            <a:ext cx="22860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Frontend &amp; backend development</a:t>
            </a:r>
            <a:br/>
            <a:r>
              <a:t>API design, Database modeling</a:t>
            </a:r>
            <a:br/>
            <a:r>
              <a:t>Integration &amp; Deployment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869680" y="2743200"/>
            <a:ext cx="274320" cy="228600"/>
          </a:xfrm>
          <a:prstGeom prst="rightArrow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098280" y="1371600"/>
            <a:ext cx="265176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FA"/>
            </a:solidFill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098280" y="1371600"/>
            <a:ext cx="265176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012680" y="1600200"/>
            <a:ext cx="640080" cy="640080"/>
          </a:xfrm>
          <a:prstGeom prst="ellipse">
            <a:avLst/>
          </a:prstGeom>
          <a:solidFill>
            <a:srgbClr val="EF4444"/>
          </a:solidFill>
          <a:ln>
            <a:noFill/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012680" y="160020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Segoe UI Emoji"/>
              </a:defRPr>
            </a:pPr>
            <a:r>
              <a:t>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60" y="2377440"/>
            <a:ext cx="2286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EF4444"/>
                </a:solidFill>
                <a:latin typeface="Calibri"/>
              </a:defRPr>
            </a:pPr>
            <a:r>
              <a:t>Learning</a:t>
            </a:r>
            <a:br/>
            <a:r>
              <a:t>Goals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1160" y="3108960"/>
            <a:ext cx="22860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Master React, Node.js, MongoDB</a:t>
            </a:r>
            <a:br/>
            <a:r>
              <a:t>Real-time systems, GIS mapping</a:t>
            </a:r>
            <a:br/>
            <a:r>
              <a:t>Agile development practices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846320"/>
            <a:ext cx="11247120" cy="155448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D6E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31520" y="493776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002B5E"/>
                </a:solidFill>
                <a:latin typeface="Calibri"/>
              </a:defRPr>
            </a:pPr>
            <a:r>
              <a:t>✅ Expected Outcomes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212080"/>
            <a:ext cx="105156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• Production-ready disaster management platform deployed on cloud</a:t>
            </a:r>
            <a:br/>
            <a:r>
              <a:t>• Enhanced skills in full-stack development, real-time systems &amp; GIS integration</a:t>
            </a:r>
            <a:br/>
            <a:r>
              <a:t>• Comprehensive understanding of SDLC, Agile methodology &amp; DevOps practices</a:t>
            </a:r>
            <a:br/>
            <a:r>
              <a:t>• Professional portfolio demonstrating real-world government application development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664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4A90D9"/>
                </a:solidFill>
                <a:latin typeface="Calibri"/>
              </a:defRPr>
            </a:pPr>
            <a:r>
              <a:t>Disaster Relief Coordination Platform — Bridging the Gap in Disaster Response Coordination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1">
                <a:solidFill>
                  <a:srgbClr val="EF4444"/>
                </a:solidFill>
                <a:latin typeface="Calibri"/>
              </a:defRPr>
            </a:pPr>
            <a:r>
              <a:t>⚠️ Existing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rPr dirty="0"/>
              <a:t>✕  Delayed communication between stakeholders during emergencies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rPr dirty="0"/>
              <a:t>✕  Inefficient manual resource allocation &amp; inventory tracking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✕  Lack of real-time situational awareness for field teams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9748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✕  No centralized platform for citizen reporting &amp; SOS alerts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1752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✕  Poor coordination between NGOs, volunteers &amp; government agencies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2900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1">
                <a:solidFill>
                  <a:srgbClr val="10B981"/>
                </a:solidFill>
                <a:latin typeface="Calibri"/>
              </a:defRPr>
            </a:pPr>
            <a:r>
              <a:t>✅ Proposed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9476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✓  Real-time multi-channel communication &amp; alert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11480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✓  Centralized resource tracking with automated allocation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3484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✓  Interactive GIS maps with live incident tracking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5488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rPr dirty="0"/>
              <a:t>✓  Multi-language SOS system with GPS coordinates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07492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✓  Role-based dashboards for all stakeholders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1371600"/>
            <a:ext cx="5029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1">
                <a:solidFill>
                  <a:srgbClr val="002B5E"/>
                </a:solidFill>
                <a:latin typeface="Calibri"/>
              </a:defRPr>
            </a:pPr>
            <a:r>
              <a:t>👥 User Roles</a:t>
            </a:r>
          </a:p>
        </p:txBody>
      </p:sp>
      <p:sp>
        <p:nvSpPr>
          <p:cNvPr id="19" name="Oval 18"/>
          <p:cNvSpPr/>
          <p:nvPr/>
        </p:nvSpPr>
        <p:spPr>
          <a:xfrm>
            <a:off x="6583680" y="1737360"/>
            <a:ext cx="411480" cy="411480"/>
          </a:xfrm>
          <a:prstGeom prst="ellipse">
            <a:avLst/>
          </a:prstGeom>
          <a:solidFill>
            <a:srgbClr val="0070C0"/>
          </a:solidFill>
          <a:ln>
            <a:noFill/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0" y="1737360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>
                <a:solidFill>
                  <a:srgbClr val="FFFFFF"/>
                </a:solidFill>
                <a:latin typeface="Segoe UI Emoji"/>
              </a:defRPr>
            </a:pPr>
            <a:r>
              <a:t>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1737360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002B5E"/>
                </a:solidFill>
                <a:latin typeface="Calibri"/>
              </a:defRPr>
            </a:pPr>
            <a:r>
              <a:t>Citizen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1965960"/>
            <a:ext cx="4114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Report incidents, get</a:t>
            </a:r>
            <a:br/>
            <a:r>
              <a:t>SOS alerts &amp; updates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0" y="2697480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0" y="2697480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>
                <a:solidFill>
                  <a:srgbClr val="FFFFFF"/>
                </a:solidFill>
                <a:latin typeface="Segoe UI Emoji"/>
              </a:defRPr>
            </a:pPr>
            <a:r>
              <a:t>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2697480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002B5E"/>
                </a:solidFill>
                <a:latin typeface="Calibri"/>
              </a:defRPr>
            </a:pPr>
            <a:r>
              <a:t>Volunteer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2926080"/>
            <a:ext cx="4114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Accept tasks, help</a:t>
            </a:r>
            <a:br/>
            <a:r>
              <a:t>with relief operations</a:t>
            </a:r>
          </a:p>
        </p:txBody>
      </p:sp>
      <p:sp>
        <p:nvSpPr>
          <p:cNvPr id="27" name="Oval 26"/>
          <p:cNvSpPr/>
          <p:nvPr/>
        </p:nvSpPr>
        <p:spPr>
          <a:xfrm>
            <a:off x="6583680" y="3657600"/>
            <a:ext cx="411480" cy="411480"/>
          </a:xfrm>
          <a:prstGeom prst="ellipse">
            <a:avLst/>
          </a:prstGeom>
          <a:solidFill>
            <a:srgbClr val="F0920A"/>
          </a:solidFill>
          <a:ln>
            <a:noFill/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80" y="3657600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>
                <a:solidFill>
                  <a:srgbClr val="FFFFFF"/>
                </a:solidFill>
                <a:latin typeface="Segoe UI Emoji"/>
              </a:defRPr>
            </a:pPr>
            <a:r>
              <a:t>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3657600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002B5E"/>
                </a:solidFill>
                <a:latin typeface="Calibri"/>
              </a:defRPr>
            </a:pPr>
            <a:r>
              <a:t>NGO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3886200"/>
            <a:ext cx="4114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Coordinate resources</a:t>
            </a:r>
            <a:br/>
            <a:r>
              <a:t>&amp; manage volunteers</a:t>
            </a:r>
          </a:p>
        </p:txBody>
      </p:sp>
      <p:sp>
        <p:nvSpPr>
          <p:cNvPr id="31" name="Oval 30"/>
          <p:cNvSpPr/>
          <p:nvPr/>
        </p:nvSpPr>
        <p:spPr>
          <a:xfrm>
            <a:off x="6583680" y="4617720"/>
            <a:ext cx="411480" cy="411480"/>
          </a:xfrm>
          <a:prstGeom prst="ellipse">
            <a:avLst/>
          </a:prstGeom>
          <a:solidFill>
            <a:srgbClr val="EF4444"/>
          </a:solidFill>
          <a:ln>
            <a:noFill/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83680" y="4617720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>
                <a:solidFill>
                  <a:srgbClr val="FFFFFF"/>
                </a:solidFill>
                <a:latin typeface="Segoe UI Emoji"/>
              </a:defRPr>
            </a:pPr>
            <a:r>
              <a:t>🏛️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4617720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002B5E"/>
                </a:solidFill>
                <a:latin typeface="Calibri"/>
              </a:defRPr>
            </a:pPr>
            <a:r>
              <a:t>Govt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4846320"/>
            <a:ext cx="4114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Monitor situations</a:t>
            </a:r>
            <a:br/>
            <a:r>
              <a:t>&amp; allocate resources</a:t>
            </a:r>
          </a:p>
        </p:txBody>
      </p:sp>
      <p:sp>
        <p:nvSpPr>
          <p:cNvPr id="35" name="Oval 34"/>
          <p:cNvSpPr/>
          <p:nvPr/>
        </p:nvSpPr>
        <p:spPr>
          <a:xfrm>
            <a:off x="6583680" y="5577840"/>
            <a:ext cx="411480" cy="411480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83680" y="5577840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>
                <a:solidFill>
                  <a:srgbClr val="FFFFFF"/>
                </a:solidFill>
                <a:latin typeface="Segoe UI Emoji"/>
              </a:defRPr>
            </a:pPr>
            <a:r>
              <a:t>⚙️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5577840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002B5E"/>
                </a:solidFill>
                <a:latin typeface="Calibri"/>
              </a:defRPr>
            </a:pPr>
            <a:r>
              <a:t>Admin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5806440"/>
            <a:ext cx="4114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Full system control</a:t>
            </a:r>
            <a:br/>
            <a:r>
              <a:t>&amp; analytics dashboard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-1" y="6266344"/>
            <a:ext cx="12191695" cy="614516"/>
          </a:xfrm>
          <a:prstGeom prst="roundRect">
            <a:avLst/>
          </a:prstGeom>
          <a:solidFill>
            <a:srgbClr val="00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09447" y="6420219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rPr dirty="0"/>
              <a:t>🌟 Benefits: Faster Response Time  •  Efficient Resource Utilization  •  Improved Coordination  •  Data-Driven Decisions  •  Multi-Lingual Accessibility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4A90D9"/>
                </a:solidFill>
                <a:latin typeface="Calibri"/>
              </a:defRPr>
            </a:pPr>
            <a:r>
              <a:t>Three-Tier Architecture with Real-Time Capabilities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5486400"/>
            <a:ext cx="7315200" cy="64008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5559552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1005840" y="553212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rPr dirty="0"/>
              <a:t>Reports &amp;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80644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DDEEFF"/>
                </a:solidFill>
                <a:latin typeface="Calibri"/>
              </a:defRPr>
            </a:pPr>
            <a:r>
              <a:t>Admin Dashboards • Charts • Data Export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577840"/>
            <a:ext cx="11887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Reports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3657600" y="5303520"/>
            <a:ext cx="365760" cy="18288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57200" y="4754880"/>
            <a:ext cx="7315200" cy="640080"/>
          </a:xfrm>
          <a:prstGeom prst="roundRect">
            <a:avLst/>
          </a:prstGeom>
          <a:solidFill>
            <a:srgbClr val="0EA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594360" y="4828032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1005840" y="480060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rPr dirty="0"/>
              <a:t>Leaflet GIS Maps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07492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DDEEFF"/>
                </a:solidFill>
                <a:latin typeface="Calibri"/>
              </a:defRPr>
            </a:pPr>
            <a:r>
              <a:rPr dirty="0"/>
              <a:t>Interactive Maps • Geo-fencing • Heat Maps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846320"/>
            <a:ext cx="11887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Maps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3657600" y="4572000"/>
            <a:ext cx="365760" cy="18288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57200" y="4023360"/>
            <a:ext cx="7315200" cy="640080"/>
          </a:xfrm>
          <a:prstGeom prst="roundRect">
            <a:avLst/>
          </a:prstGeom>
          <a:solidFill>
            <a:srgbClr val="E84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4096512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1005840" y="406908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Socket.IO Real-Time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34340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DDEEFF"/>
                </a:solidFill>
                <a:latin typeface="Calibri"/>
              </a:defRPr>
            </a:pPr>
            <a:r>
              <a:t>Live Updates • WebSocket • Push Notifications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114800"/>
            <a:ext cx="11887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Real-Time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3657600" y="3840480"/>
            <a:ext cx="365760" cy="18288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57200" y="3291840"/>
            <a:ext cx="7315200" cy="640080"/>
          </a:xfrm>
          <a:prstGeom prst="roundRect">
            <a:avLst/>
          </a:prstGeom>
          <a:solidFill>
            <a:srgbClr val="F09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3364992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1005840" y="333756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MongoDB Atlas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36118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DDEEFF"/>
                </a:solidFill>
                <a:latin typeface="Calibri"/>
              </a:defRPr>
            </a:pPr>
            <a:r>
              <a:t>NoSQL Database • GeoJSON • Mongoose ODM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383280"/>
            <a:ext cx="11887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3657600" y="3108960"/>
            <a:ext cx="365760" cy="18288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457200" y="2560320"/>
            <a:ext cx="7315200" cy="64008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" y="2633472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endParaRPr dirty="0"/>
          </a:p>
        </p:txBody>
      </p:sp>
      <p:sp>
        <p:nvSpPr>
          <p:cNvPr id="32" name="TextBox 31"/>
          <p:cNvSpPr txBox="1"/>
          <p:nvPr/>
        </p:nvSpPr>
        <p:spPr>
          <a:xfrm>
            <a:off x="1005840" y="260604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JWT Authentication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288036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DDEEFF"/>
                </a:solidFill>
                <a:latin typeface="Calibri"/>
              </a:defRPr>
            </a:pPr>
            <a:r>
              <a:t>Token Auth • bcrypt • Role-Based Access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2651760"/>
            <a:ext cx="11887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Auth</a:t>
            </a:r>
          </a:p>
        </p:txBody>
      </p:sp>
      <p:sp>
        <p:nvSpPr>
          <p:cNvPr id="35" name="Down Arrow 34"/>
          <p:cNvSpPr/>
          <p:nvPr/>
        </p:nvSpPr>
        <p:spPr>
          <a:xfrm>
            <a:off x="3657600" y="2377440"/>
            <a:ext cx="365760" cy="18288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457200" y="1828800"/>
            <a:ext cx="731520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94360" y="1901952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endParaRPr dirty="0"/>
          </a:p>
        </p:txBody>
      </p:sp>
      <p:sp>
        <p:nvSpPr>
          <p:cNvPr id="38" name="TextBox 37"/>
          <p:cNvSpPr txBox="1"/>
          <p:nvPr/>
        </p:nvSpPr>
        <p:spPr>
          <a:xfrm>
            <a:off x="1005840" y="187452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Node.js / Express API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214884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DDEEFF"/>
                </a:solidFill>
                <a:latin typeface="Calibri"/>
              </a:defRPr>
            </a:pPr>
            <a:r>
              <a:t>REST Endpoints • Middleware • Business Logic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1920240"/>
            <a:ext cx="11887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41" name="Down Arrow 40"/>
          <p:cNvSpPr/>
          <p:nvPr/>
        </p:nvSpPr>
        <p:spPr>
          <a:xfrm>
            <a:off x="3657600" y="1645920"/>
            <a:ext cx="365760" cy="18288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457200" y="1097280"/>
            <a:ext cx="7315200" cy="64008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94360" y="1170432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endParaRPr dirty="0"/>
          </a:p>
        </p:txBody>
      </p:sp>
      <p:sp>
        <p:nvSpPr>
          <p:cNvPr id="44" name="TextBox 43"/>
          <p:cNvSpPr txBox="1"/>
          <p:nvPr/>
        </p:nvSpPr>
        <p:spPr>
          <a:xfrm>
            <a:off x="1005840" y="114300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React.js Frontend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" y="141732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DDEEFF"/>
                </a:solidFill>
                <a:latin typeface="Calibri"/>
              </a:defRPr>
            </a:pPr>
            <a:r>
              <a:t>TypeScript • Components • Context • PWA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1205992"/>
            <a:ext cx="11887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229600" y="1097280"/>
            <a:ext cx="3474720" cy="109728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D6E8FA"/>
            </a:solidFill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8366760" y="1234440"/>
            <a:ext cx="457200" cy="457200"/>
          </a:xfrm>
          <a:prstGeom prst="ellipse">
            <a:avLst/>
          </a:prstGeom>
          <a:solidFill>
            <a:srgbClr val="0070C0"/>
          </a:solidFill>
          <a:ln>
            <a:noFill/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961120" y="1280160"/>
            <a:ext cx="25603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Deployment</a:t>
            </a:r>
            <a:br/>
            <a:r>
              <a:t>Render + Docker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229600" y="2423160"/>
            <a:ext cx="3474720" cy="109728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D6E8FA"/>
            </a:solidFill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8366760" y="256032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961120" y="2606040"/>
            <a:ext cx="25603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PWA</a:t>
            </a:r>
            <a:br/>
            <a:r>
              <a:t>Offline Support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229600" y="3749040"/>
            <a:ext cx="3474720" cy="109728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D6E8FA"/>
            </a:solidFill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8366760" y="3886200"/>
            <a:ext cx="457200" cy="457200"/>
          </a:xfrm>
          <a:prstGeom prst="ellipse">
            <a:avLst/>
          </a:prstGeom>
          <a:solidFill>
            <a:srgbClr val="F0920A"/>
          </a:solidFill>
          <a:ln>
            <a:noFill/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961120" y="3931920"/>
            <a:ext cx="25603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Security</a:t>
            </a:r>
            <a:br/>
            <a:r>
              <a:t>Helmet • Rate Limit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229600" y="5074920"/>
            <a:ext cx="3474720" cy="109728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D6E8FA"/>
            </a:solidFill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8366760" y="5212080"/>
            <a:ext cx="457200" cy="457200"/>
          </a:xfrm>
          <a:prstGeom prst="ellipse">
            <a:avLst/>
          </a:prstGeom>
          <a:solidFill>
            <a:srgbClr val="EF4444"/>
          </a:solidFill>
          <a:ln>
            <a:noFill/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961120" y="5257800"/>
            <a:ext cx="25603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Testing</a:t>
            </a:r>
            <a:br/>
            <a:r>
              <a:t>Vitest • Playwright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Major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4A90D9"/>
                </a:solidFill>
                <a:latin typeface="Calibri"/>
              </a:defRPr>
            </a:pPr>
            <a:r>
              <a:t>10 Core Modules Powering the Disaster Relief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71600"/>
            <a:ext cx="214884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FA"/>
            </a:solidFill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2148840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43000" y="1508760"/>
            <a:ext cx="502920" cy="502920"/>
          </a:xfrm>
          <a:prstGeom prst="ellipse">
            <a:avLst/>
          </a:prstGeom>
          <a:solidFill>
            <a:srgbClr val="0070C0"/>
          </a:solidFill>
          <a:ln>
            <a:noFill/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15087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>
                <a:solidFill>
                  <a:srgbClr val="FFFFFF"/>
                </a:solidFill>
                <a:latin typeface="Segoe UI Emoji"/>
              </a:defRPr>
            </a:pPr>
            <a:r>
              <a:t>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03120"/>
            <a:ext cx="19659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1">
                <a:solidFill>
                  <a:srgbClr val="0070C0"/>
                </a:solidFill>
                <a:latin typeface="Calibri"/>
              </a:defRPr>
            </a:pPr>
            <a:r>
              <a:t>Authentication</a:t>
            </a:r>
            <a:br/>
            <a:r>
              <a:t>&amp; User Roles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43200"/>
            <a:ext cx="196596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50" b="0">
                <a:solidFill>
                  <a:srgbClr val="333333"/>
                </a:solidFill>
                <a:latin typeface="Calibri"/>
              </a:defRPr>
            </a:pPr>
            <a:r>
              <a:t>JWT-based auth with 5 user roles:</a:t>
            </a:r>
            <a:br/>
            <a:r>
              <a:t>Citizen, Volunteer, NGO,</a:t>
            </a:r>
            <a:br/>
            <a:r>
              <a:t>Government &amp; Admin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15768" y="1371600"/>
            <a:ext cx="214884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FA"/>
            </a:solidFill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15768" y="1371600"/>
            <a:ext cx="214884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493008" y="1508760"/>
            <a:ext cx="502920" cy="502920"/>
          </a:xfrm>
          <a:prstGeom prst="ellipse">
            <a:avLst/>
          </a:prstGeom>
          <a:solidFill>
            <a:srgbClr val="EF4444"/>
          </a:solidFill>
          <a:ln>
            <a:noFill/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93008" y="15087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>
                <a:solidFill>
                  <a:srgbClr val="FFFFFF"/>
                </a:solidFill>
                <a:latin typeface="Segoe UI Emoji"/>
              </a:defRPr>
            </a:pPr>
            <a:r>
              <a:t>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07208" y="2103120"/>
            <a:ext cx="19659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1">
                <a:solidFill>
                  <a:srgbClr val="EF4444"/>
                </a:solidFill>
                <a:latin typeface="Calibri"/>
              </a:defRPr>
            </a:pPr>
            <a:r>
              <a:t>SOS Alert</a:t>
            </a:r>
            <a:br/>
            <a:r>
              <a:t>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07208" y="2743200"/>
            <a:ext cx="196596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50" b="0">
                <a:solidFill>
                  <a:srgbClr val="333333"/>
                </a:solidFill>
                <a:latin typeface="Calibri"/>
              </a:defRPr>
            </a:pPr>
            <a:r>
              <a:t>One-click emergency broadcast</a:t>
            </a:r>
            <a:br/>
            <a:r>
              <a:t>with GPS coordinates &amp;</a:t>
            </a:r>
            <a:br/>
            <a:r>
              <a:t>auto-notification to authorities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65776" y="1371600"/>
            <a:ext cx="214884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FA"/>
            </a:solidFill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65776" y="1371600"/>
            <a:ext cx="2148840" cy="54864"/>
          </a:xfrm>
          <a:prstGeom prst="rect">
            <a:avLst/>
          </a:prstGeom>
          <a:solidFill>
            <a:srgbClr val="F09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843016" y="1508760"/>
            <a:ext cx="502920" cy="502920"/>
          </a:xfrm>
          <a:prstGeom prst="ellipse">
            <a:avLst/>
          </a:prstGeom>
          <a:solidFill>
            <a:srgbClr val="F0920A"/>
          </a:solidFill>
          <a:ln>
            <a:noFill/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843016" y="15087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>
                <a:solidFill>
                  <a:srgbClr val="FFFFFF"/>
                </a:solidFill>
                <a:latin typeface="Segoe UI Emoji"/>
              </a:defRPr>
            </a:pPr>
            <a:r>
              <a:t>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6" y="2103120"/>
            <a:ext cx="19659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1">
                <a:solidFill>
                  <a:srgbClr val="F0920A"/>
                </a:solidFill>
                <a:latin typeface="Calibri"/>
              </a:defRPr>
            </a:pPr>
            <a:r>
              <a:t>Disaster</a:t>
            </a:r>
            <a:br/>
            <a:r>
              <a:t>Reporting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57216" y="2743200"/>
            <a:ext cx="196596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50" b="0">
                <a:solidFill>
                  <a:srgbClr val="333333"/>
                </a:solidFill>
                <a:latin typeface="Calibri"/>
              </a:defRPr>
            </a:pPr>
            <a:r>
              <a:t>Citizens can report incidents</a:t>
            </a:r>
            <a:br/>
            <a:r>
              <a:t>with images, location &amp;</a:t>
            </a:r>
            <a:br/>
            <a:r>
              <a:t>disaster type classification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15784" y="1371600"/>
            <a:ext cx="214884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FA"/>
            </a:solidFill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415784" y="1371600"/>
            <a:ext cx="21488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193024" y="150876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93024" y="15087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>
                <a:solidFill>
                  <a:srgbClr val="FFFFFF"/>
                </a:solidFill>
                <a:latin typeface="Segoe UI Emoji"/>
              </a:defRPr>
            </a:pPr>
            <a:r>
              <a:t>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07224" y="2103120"/>
            <a:ext cx="19659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1">
                <a:solidFill>
                  <a:srgbClr val="10B981"/>
                </a:solidFill>
                <a:latin typeface="Calibri"/>
              </a:defRPr>
            </a:pPr>
            <a:r>
              <a:t>Volunteer</a:t>
            </a:r>
            <a:br/>
            <a:r>
              <a:t>Management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07224" y="2743200"/>
            <a:ext cx="196596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50" b="0">
                <a:solidFill>
                  <a:srgbClr val="333333"/>
                </a:solidFill>
                <a:latin typeface="Calibri"/>
              </a:defRPr>
            </a:pPr>
            <a:r>
              <a:t>Volunteer registration, task</a:t>
            </a:r>
            <a:br/>
            <a:r>
              <a:t>assignment, skill matching</a:t>
            </a:r>
            <a:br/>
            <a:r>
              <a:t>&amp; activity tracking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65792" y="1371600"/>
            <a:ext cx="214884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FA"/>
            </a:solidFill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765792" y="1371600"/>
            <a:ext cx="214884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0543032" y="1508760"/>
            <a:ext cx="502920" cy="502920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543032" y="15087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>
                <a:solidFill>
                  <a:srgbClr val="FFFFFF"/>
                </a:solidFill>
                <a:latin typeface="Segoe UI Emoji"/>
              </a:defRPr>
            </a:pPr>
            <a:r>
              <a:t>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57232" y="2103120"/>
            <a:ext cx="19659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1">
                <a:solidFill>
                  <a:srgbClr val="8B5CF6"/>
                </a:solidFill>
                <a:latin typeface="Calibri"/>
              </a:defRPr>
            </a:pPr>
            <a:r>
              <a:t>Resource</a:t>
            </a:r>
            <a:br/>
            <a:r>
              <a:t>Allocation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57232" y="2743200"/>
            <a:ext cx="196596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50" b="0">
                <a:solidFill>
                  <a:srgbClr val="333333"/>
                </a:solidFill>
                <a:latin typeface="Calibri"/>
              </a:defRPr>
            </a:pPr>
            <a:r>
              <a:t>Inventory management, request</a:t>
            </a:r>
            <a:br/>
            <a:r>
              <a:t>matching, automated</a:t>
            </a:r>
            <a:br/>
            <a:r>
              <a:t>resource distribution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5760" y="4114800"/>
            <a:ext cx="214884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FA"/>
            </a:solidFill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65760" y="4114800"/>
            <a:ext cx="2148840" cy="54864"/>
          </a:xfrm>
          <a:prstGeom prst="rect">
            <a:avLst/>
          </a:prstGeom>
          <a:solidFill>
            <a:srgbClr val="0EA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143000" y="4251960"/>
            <a:ext cx="502920" cy="502920"/>
          </a:xfrm>
          <a:prstGeom prst="ellipse">
            <a:avLst/>
          </a:prstGeom>
          <a:solidFill>
            <a:srgbClr val="0EA59E"/>
          </a:solidFill>
          <a:ln>
            <a:noFill/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143000" y="42519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>
                <a:solidFill>
                  <a:srgbClr val="FFFFFF"/>
                </a:solidFill>
                <a:latin typeface="Segoe UI Emoji"/>
              </a:defRPr>
            </a:pPr>
            <a:r>
              <a:t>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4846320"/>
            <a:ext cx="19659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1">
                <a:solidFill>
                  <a:srgbClr val="0EA59E"/>
                </a:solidFill>
                <a:latin typeface="Calibri"/>
              </a:defRPr>
            </a:pPr>
            <a:r>
              <a:t>Shelter</a:t>
            </a:r>
            <a:br/>
            <a:r>
              <a:t>Locator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5486400"/>
            <a:ext cx="196596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50" b="0">
                <a:solidFill>
                  <a:srgbClr val="333333"/>
                </a:solidFill>
                <a:latin typeface="Calibri"/>
              </a:defRPr>
            </a:pPr>
            <a:r>
              <a:t>GIS-based shelter mapping,</a:t>
            </a:r>
            <a:br/>
            <a:r>
              <a:t>capacity tracking &amp;</a:t>
            </a:r>
            <a:br/>
            <a:r>
              <a:t>occupancy monitoring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15768" y="4114800"/>
            <a:ext cx="214884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FA"/>
            </a:solidFill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2715768" y="4114800"/>
            <a:ext cx="2148840" cy="54864"/>
          </a:xfrm>
          <a:prstGeom prst="rect">
            <a:avLst/>
          </a:prstGeom>
          <a:solidFill>
            <a:srgbClr val="E84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3493008" y="4251960"/>
            <a:ext cx="502920" cy="502920"/>
          </a:xfrm>
          <a:prstGeom prst="ellipse">
            <a:avLst/>
          </a:prstGeom>
          <a:solidFill>
            <a:srgbClr val="E84D8A"/>
          </a:solidFill>
          <a:ln>
            <a:noFill/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493008" y="42519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>
                <a:solidFill>
                  <a:srgbClr val="FFFFFF"/>
                </a:solidFill>
                <a:latin typeface="Segoe UI Emoji"/>
              </a:defRPr>
            </a:pPr>
            <a:r>
              <a:t>📊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807208" y="4846320"/>
            <a:ext cx="19659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1">
                <a:solidFill>
                  <a:srgbClr val="E84D8A"/>
                </a:solidFill>
                <a:latin typeface="Calibri"/>
              </a:defRPr>
            </a:pPr>
            <a:r>
              <a:t>Reports &amp;</a:t>
            </a:r>
            <a:br/>
            <a:r>
              <a:t>Analytics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07208" y="5486400"/>
            <a:ext cx="196596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50" b="0">
                <a:solidFill>
                  <a:srgbClr val="333333"/>
                </a:solidFill>
                <a:latin typeface="Calibri"/>
              </a:defRPr>
            </a:pPr>
            <a:r>
              <a:t>Interactive dashboards with</a:t>
            </a:r>
            <a:br/>
            <a:r>
              <a:t>charts, KPIs &amp; exportable</a:t>
            </a:r>
            <a:br/>
            <a:r>
              <a:t>reports for administrators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065776" y="4114800"/>
            <a:ext cx="214884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FA"/>
            </a:solidFill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065776" y="4114800"/>
            <a:ext cx="2148840" cy="54864"/>
          </a:xfrm>
          <a:prstGeom prst="rect">
            <a:avLst/>
          </a:prstGeom>
          <a:solidFill>
            <a:srgbClr val="00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5843016" y="4251960"/>
            <a:ext cx="502920" cy="502920"/>
          </a:xfrm>
          <a:prstGeom prst="ellipse">
            <a:avLst/>
          </a:prstGeom>
          <a:solidFill>
            <a:srgbClr val="002B5E"/>
          </a:solidFill>
          <a:ln>
            <a:noFill/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843016" y="42519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>
                <a:solidFill>
                  <a:srgbClr val="FFFFFF"/>
                </a:solidFill>
                <a:latin typeface="Segoe UI Emoji"/>
              </a:defRPr>
            </a:pPr>
            <a:r>
              <a:t>⚙️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57216" y="4846320"/>
            <a:ext cx="19659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1">
                <a:solidFill>
                  <a:srgbClr val="002B5E"/>
                </a:solidFill>
                <a:latin typeface="Calibri"/>
              </a:defRPr>
            </a:pPr>
            <a:r>
              <a:t>Admin</a:t>
            </a:r>
            <a:br/>
            <a:r>
              <a:t>Dashboard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57216" y="5486400"/>
            <a:ext cx="196596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50" b="0">
                <a:solidFill>
                  <a:srgbClr val="333333"/>
                </a:solidFill>
                <a:latin typeface="Calibri"/>
              </a:defRPr>
            </a:pPr>
            <a:r>
              <a:t>Complete system control,</a:t>
            </a:r>
            <a:br/>
            <a:r>
              <a:t>user management &amp;</a:t>
            </a:r>
            <a:br/>
            <a:r>
              <a:t>configuration settings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415784" y="4114800"/>
            <a:ext cx="214884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FA"/>
            </a:solidFill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7415784" y="4114800"/>
            <a:ext cx="2148840" cy="54864"/>
          </a:xfrm>
          <a:prstGeom prst="rect">
            <a:avLst/>
          </a:prstGeom>
          <a:solidFill>
            <a:srgbClr val="F09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8193024" y="4251960"/>
            <a:ext cx="502920" cy="502920"/>
          </a:xfrm>
          <a:prstGeom prst="ellipse">
            <a:avLst/>
          </a:prstGeom>
          <a:solidFill>
            <a:srgbClr val="F0920A"/>
          </a:solidFill>
          <a:ln>
            <a:noFill/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193024" y="42519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>
                <a:solidFill>
                  <a:srgbClr val="FFFFFF"/>
                </a:solidFill>
                <a:latin typeface="Segoe UI Emoji"/>
              </a:defRPr>
            </a:pPr>
            <a:r>
              <a:t>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07224" y="4846320"/>
            <a:ext cx="19659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1">
                <a:solidFill>
                  <a:srgbClr val="F0920A"/>
                </a:solidFill>
                <a:latin typeface="Calibri"/>
              </a:defRPr>
            </a:pPr>
            <a:r>
              <a:t>Notification</a:t>
            </a:r>
            <a:br/>
            <a:r>
              <a:t>System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507224" y="5486400"/>
            <a:ext cx="196596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50" b="0">
                <a:solidFill>
                  <a:srgbClr val="333333"/>
                </a:solidFill>
                <a:latin typeface="Calibri"/>
              </a:defRPr>
            </a:pPr>
            <a:r>
              <a:t>Multi-channel alerts via</a:t>
            </a:r>
            <a:br/>
            <a:r>
              <a:t>email, in-app &amp; SMS</a:t>
            </a:r>
            <a:br/>
            <a:r>
              <a:t>for timely updates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765792" y="4114800"/>
            <a:ext cx="214884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FA"/>
            </a:solidFill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9765792" y="4114800"/>
            <a:ext cx="2148840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10543032" y="4251960"/>
            <a:ext cx="502920" cy="502920"/>
          </a:xfrm>
          <a:prstGeom prst="ellipse">
            <a:avLst/>
          </a:prstGeom>
          <a:solidFill>
            <a:srgbClr val="0070C0"/>
          </a:solidFill>
          <a:ln>
            <a:noFill/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543032" y="42519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>
                <a:solidFill>
                  <a:srgbClr val="FFFFFF"/>
                </a:solidFill>
                <a:latin typeface="Segoe UI Emoji"/>
              </a:defRPr>
            </a:pPr>
            <a:r>
              <a:t>🗺️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857232" y="4846320"/>
            <a:ext cx="19659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1">
                <a:solidFill>
                  <a:srgbClr val="0070C0"/>
                </a:solidFill>
                <a:latin typeface="Calibri"/>
              </a:defRPr>
            </a:pPr>
            <a:r>
              <a:t>Live Map</a:t>
            </a:r>
            <a:br/>
            <a:r>
              <a:t>&amp; Geofencing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857232" y="5486400"/>
            <a:ext cx="196596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50" b="0">
                <a:solidFill>
                  <a:srgbClr val="333333"/>
                </a:solidFill>
                <a:latin typeface="Calibri"/>
              </a:defRPr>
            </a:pPr>
            <a:r>
              <a:t>Real-time incident tracking,</a:t>
            </a:r>
            <a:br/>
            <a:r>
              <a:t>geo-fence zones &amp;</a:t>
            </a:r>
            <a:br/>
            <a:r>
              <a:t>heat map visualization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832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Database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4A90D9"/>
                </a:solidFill>
                <a:latin typeface="Calibri"/>
              </a:defRPr>
            </a:pPr>
            <a:r>
              <a:t>MongoDB Collections &amp; Data Relationships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2560320" cy="73152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4572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DDEEFF"/>
                </a:solidFill>
                <a:latin typeface="Calibri"/>
              </a:defRPr>
            </a:pPr>
            <a:r>
              <a:t>15 fields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371600"/>
            <a:ext cx="2560320" cy="7315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83280" y="1417320"/>
            <a:ext cx="4572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146304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Requests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173736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DDEEFF"/>
                </a:solidFill>
                <a:latin typeface="Calibri"/>
              </a:defRPr>
            </a:pPr>
            <a:r>
              <a:t>22 fields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371600"/>
            <a:ext cx="2560320" cy="7315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0" y="1417320"/>
            <a:ext cx="4572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46304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SOS Alerts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173736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DDEEFF"/>
                </a:solidFill>
                <a:latin typeface="Calibri"/>
              </a:defRPr>
            </a:pPr>
            <a:r>
              <a:t>10 fields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371600"/>
            <a:ext cx="2560320" cy="731520"/>
          </a:xfrm>
          <a:prstGeom prst="roundRect">
            <a:avLst/>
          </a:prstGeom>
          <a:solidFill>
            <a:srgbClr val="F09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52560" y="1417320"/>
            <a:ext cx="4572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146304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Incidents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173736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DDEEFF"/>
                </a:solidFill>
                <a:latin typeface="Calibri"/>
              </a:defRPr>
            </a:pPr>
            <a:r>
              <a:t>18 fields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286000"/>
            <a:ext cx="2560320" cy="7315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2331720"/>
            <a:ext cx="4572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237744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Resources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265176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DDEEFF"/>
                </a:solidFill>
                <a:latin typeface="Calibri"/>
              </a:defRPr>
            </a:pPr>
            <a:r>
              <a:t>14 fields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91840" y="2286000"/>
            <a:ext cx="2560320" cy="731520"/>
          </a:xfrm>
          <a:prstGeom prst="roundRect">
            <a:avLst/>
          </a:prstGeom>
          <a:solidFill>
            <a:srgbClr val="0EA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383280" y="2331720"/>
            <a:ext cx="4572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40" y="237744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Notifications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40" y="265176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DDEEFF"/>
                </a:solidFill>
                <a:latin typeface="Calibri"/>
              </a:defRPr>
            </a:pPr>
            <a:r>
              <a:t>8 fields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26480" y="2286000"/>
            <a:ext cx="2560320" cy="731520"/>
          </a:xfrm>
          <a:prstGeom prst="roundRect">
            <a:avLst/>
          </a:prstGeom>
          <a:solidFill>
            <a:srgbClr val="E84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17920" y="2331720"/>
            <a:ext cx="4572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237744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Audit Logs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265176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DDEEFF"/>
                </a:solidFill>
                <a:latin typeface="Calibri"/>
              </a:defRPr>
            </a:pPr>
            <a:r>
              <a:t>7 fields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61120" y="2286000"/>
            <a:ext cx="2560320" cy="731520"/>
          </a:xfrm>
          <a:prstGeom prst="roundRect">
            <a:avLst/>
          </a:prstGeom>
          <a:solidFill>
            <a:srgbClr val="00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052560" y="2331720"/>
            <a:ext cx="4572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🗺️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237744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Zones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18320" y="265176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DDEEFF"/>
                </a:solidFill>
                <a:latin typeface="Calibri"/>
              </a:defRPr>
            </a:pPr>
            <a:r>
              <a:t>12 fields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338328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002B5E"/>
                </a:solidFill>
                <a:latin typeface="Calibri"/>
              </a:defRPr>
            </a:pPr>
            <a:r>
              <a:t>📊 Entity Relationship Diagram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052365" y="3809312"/>
            <a:ext cx="2394155" cy="148132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114800" y="4407408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rPr dirty="0"/>
              <a:t>📋 Requests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08660" y="3693586"/>
            <a:ext cx="1828800" cy="59436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31520" y="3857588"/>
            <a:ext cx="1828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👤 Users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520" y="4937760"/>
            <a:ext cx="1828800" cy="5943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31520" y="5010912"/>
            <a:ext cx="1828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🆘 SOS Alerts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0" y="3657600"/>
            <a:ext cx="1828800" cy="5943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269480" y="3857588"/>
            <a:ext cx="1828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rPr dirty="0"/>
              <a:t>📦 Resources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0" y="4937760"/>
            <a:ext cx="1828800" cy="594360"/>
          </a:xfrm>
          <a:prstGeom prst="roundRect">
            <a:avLst/>
          </a:prstGeom>
          <a:solidFill>
            <a:srgbClr val="F09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215403" y="5128506"/>
            <a:ext cx="1828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rPr dirty="0"/>
              <a:t>📌 Incidents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511743" y="3957926"/>
            <a:ext cx="1554480" cy="36576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2560320" y="5120640"/>
            <a:ext cx="1554480" cy="36576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423660" y="4160520"/>
            <a:ext cx="914400" cy="36576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400800" y="5120640"/>
            <a:ext cx="914400" cy="36576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903220" y="3793876"/>
            <a:ext cx="914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1">
                <a:solidFill>
                  <a:srgbClr val="0070C0"/>
                </a:solidFill>
                <a:latin typeface="Calibri"/>
              </a:defRPr>
            </a:pPr>
            <a:r>
              <a:rPr dirty="0"/>
              <a:t>1:N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926080" y="4983480"/>
            <a:ext cx="914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1">
                <a:solidFill>
                  <a:srgbClr val="EF4444"/>
                </a:solidFill>
                <a:latin typeface="Calibri"/>
              </a:defRPr>
            </a:pPr>
            <a:r>
              <a:t>1:N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23660" y="3998632"/>
            <a:ext cx="914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1">
                <a:solidFill>
                  <a:srgbClr val="10B981"/>
                </a:solidFill>
                <a:latin typeface="Calibri"/>
              </a:defRPr>
            </a:pPr>
            <a:r>
              <a:rPr dirty="0"/>
              <a:t>N:1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23660" y="4965192"/>
            <a:ext cx="914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1">
                <a:solidFill>
                  <a:srgbClr val="F0920A"/>
                </a:solidFill>
                <a:latin typeface="Calibri"/>
              </a:defRPr>
            </a:pPr>
            <a:r>
              <a:t>N:1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5760720"/>
            <a:ext cx="11247120" cy="73152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D6E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40080" y="580644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💡 Schema Features: Mongoose ODM with Validation  •  GeoJSON Indexes for Spatial Queries  •  Compound Indexes  •  Data Population &amp; Referencing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832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System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4A90D9"/>
                </a:solidFill>
                <a:latin typeface="Calibri"/>
              </a:defRPr>
            </a:pPr>
            <a:r>
              <a:t>End-to-End Disaster Response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463040"/>
            <a:ext cx="128016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FA"/>
            </a:solidFill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1280160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22960" y="1572768"/>
            <a:ext cx="320040" cy="32004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600200"/>
            <a:ext cx="320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65960"/>
            <a:ext cx="640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200" b="0">
                <a:solidFill>
                  <a:srgbClr val="000000"/>
                </a:solidFill>
                <a:latin typeface="Calibri"/>
              </a:defRPr>
            </a:pPr>
            <a:r>
              <a:t>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377440"/>
            <a:ext cx="1188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>
                <a:solidFill>
                  <a:srgbClr val="0070C0"/>
                </a:solidFill>
                <a:latin typeface="Calibri"/>
              </a:defRPr>
            </a:pPr>
            <a:r>
              <a:t>Login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697480"/>
            <a:ext cx="11887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333333"/>
                </a:solidFill>
                <a:latin typeface="Calibri"/>
              </a:defRPr>
            </a:pPr>
            <a:r>
              <a:t>User authenticates</a:t>
            </a:r>
            <a:br/>
            <a:r>
              <a:t>via JWT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645920" y="2240280"/>
            <a:ext cx="137160" cy="182880"/>
          </a:xfrm>
          <a:prstGeom prst="rightArrow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783080" y="1463040"/>
            <a:ext cx="128016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FA"/>
            </a:solidFill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783080" y="1463040"/>
            <a:ext cx="128016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240280" y="1572768"/>
            <a:ext cx="320040" cy="3200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240280" y="1600200"/>
            <a:ext cx="320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1965960"/>
            <a:ext cx="640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200" b="0">
                <a:solidFill>
                  <a:srgbClr val="000000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2377440"/>
            <a:ext cx="1188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>
                <a:solidFill>
                  <a:srgbClr val="10B981"/>
                </a:solidFill>
                <a:latin typeface="Calibri"/>
              </a:defRPr>
            </a:pPr>
            <a:r>
              <a:t>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2697480"/>
            <a:ext cx="11887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333333"/>
                </a:solidFill>
                <a:latin typeface="Calibri"/>
              </a:defRPr>
            </a:pPr>
            <a:r>
              <a:t>Role-based view</a:t>
            </a:r>
            <a:br/>
            <a:r>
              <a:t>of incidents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3063240" y="2240280"/>
            <a:ext cx="137160" cy="182880"/>
          </a:xfrm>
          <a:prstGeom prst="rightArrow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200400" y="1463040"/>
            <a:ext cx="128016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FA"/>
            </a:solidFill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200400" y="1463040"/>
            <a:ext cx="1280160" cy="45720"/>
          </a:xfrm>
          <a:prstGeom prst="rect">
            <a:avLst/>
          </a:prstGeom>
          <a:solidFill>
            <a:srgbClr val="F09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3657600" y="1572768"/>
            <a:ext cx="320040" cy="320040"/>
          </a:xfrm>
          <a:prstGeom prst="ellipse">
            <a:avLst/>
          </a:prstGeom>
          <a:solidFill>
            <a:srgbClr val="F09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57600" y="1600200"/>
            <a:ext cx="320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1965960"/>
            <a:ext cx="640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200" b="0">
                <a:solidFill>
                  <a:srgbClr val="000000"/>
                </a:solidFill>
                <a:latin typeface="Calibri"/>
              </a:defRPr>
            </a:pPr>
            <a:r>
              <a:t>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46120" y="2377440"/>
            <a:ext cx="1188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>
                <a:solidFill>
                  <a:srgbClr val="F0920A"/>
                </a:solidFill>
                <a:latin typeface="Calibri"/>
              </a:defRPr>
            </a:pPr>
            <a:r>
              <a:t>Create</a:t>
            </a:r>
            <a:br/>
            <a:r>
              <a:t>Request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46120" y="2697480"/>
            <a:ext cx="11887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333333"/>
                </a:solidFill>
                <a:latin typeface="Calibri"/>
              </a:defRPr>
            </a:pPr>
            <a:r>
              <a:t>Report disaster</a:t>
            </a:r>
            <a:br/>
            <a:r>
              <a:t>with details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4480560" y="2240280"/>
            <a:ext cx="137160" cy="182880"/>
          </a:xfrm>
          <a:prstGeom prst="rightArrow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4617720" y="1463040"/>
            <a:ext cx="128016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FA"/>
            </a:solidFill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617720" y="1463040"/>
            <a:ext cx="128016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5074920" y="1572768"/>
            <a:ext cx="320040" cy="3200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74920" y="1600200"/>
            <a:ext cx="320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60" y="1965960"/>
            <a:ext cx="640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200" b="0">
                <a:solidFill>
                  <a:srgbClr val="000000"/>
                </a:solidFill>
                <a:latin typeface="Calibri"/>
              </a:defRPr>
            </a:pPr>
            <a:r>
              <a:t>🗄️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2377440"/>
            <a:ext cx="1188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>
                <a:solidFill>
                  <a:srgbClr val="EF4444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0" y="2697480"/>
            <a:ext cx="11887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333333"/>
                </a:solidFill>
                <a:latin typeface="Calibri"/>
              </a:defRPr>
            </a:pPr>
            <a:r>
              <a:t>Save to MongoDB</a:t>
            </a:r>
            <a:br/>
            <a:r>
              <a:t>GeoJSON data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5897880" y="2240280"/>
            <a:ext cx="137160" cy="182880"/>
          </a:xfrm>
          <a:prstGeom prst="rightArrow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6035040" y="1463040"/>
            <a:ext cx="128016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FA"/>
            </a:solidFill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035040" y="1463040"/>
            <a:ext cx="128016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6492240" y="1572768"/>
            <a:ext cx="320040" cy="3200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92240" y="1600200"/>
            <a:ext cx="320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1965960"/>
            <a:ext cx="640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200" b="0">
                <a:solidFill>
                  <a:srgbClr val="000000"/>
                </a:solidFill>
                <a:latin typeface="Calibri"/>
              </a:defRPr>
            </a:pPr>
            <a:r>
              <a:t>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80760" y="2377440"/>
            <a:ext cx="1188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>
                <a:solidFill>
                  <a:srgbClr val="8B5CF6"/>
                </a:solidFill>
                <a:latin typeface="Calibri"/>
              </a:defRPr>
            </a:pPr>
            <a:r>
              <a:t>Notify</a:t>
            </a:r>
            <a:br/>
            <a:r>
              <a:t>Volunteers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80760" y="2697480"/>
            <a:ext cx="11887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333333"/>
                </a:solidFill>
                <a:latin typeface="Calibri"/>
              </a:defRPr>
            </a:pPr>
            <a:r>
              <a:t>Socket.IO push</a:t>
            </a:r>
            <a:br/>
            <a:r>
              <a:t>notification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7315200" y="2240280"/>
            <a:ext cx="137160" cy="182880"/>
          </a:xfrm>
          <a:prstGeom prst="rightArrow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7452360" y="1463040"/>
            <a:ext cx="128016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FA"/>
            </a:solidFill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7452360" y="1463040"/>
            <a:ext cx="1280160" cy="45720"/>
          </a:xfrm>
          <a:prstGeom prst="rect">
            <a:avLst/>
          </a:prstGeom>
          <a:solidFill>
            <a:srgbClr val="0EA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7909560" y="1572768"/>
            <a:ext cx="320040" cy="320040"/>
          </a:xfrm>
          <a:prstGeom prst="ellipse">
            <a:avLst/>
          </a:prstGeom>
          <a:solidFill>
            <a:srgbClr val="0EA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909560" y="1600200"/>
            <a:ext cx="320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72400" y="1965960"/>
            <a:ext cx="640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200" b="0">
                <a:solidFill>
                  <a:srgbClr val="000000"/>
                </a:solidFill>
                <a:latin typeface="Calibri"/>
              </a:defRPr>
            </a:pPr>
            <a:r>
              <a:t>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98080" y="2377440"/>
            <a:ext cx="1188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>
                <a:solidFill>
                  <a:srgbClr val="0EA59E"/>
                </a:solidFill>
                <a:latin typeface="Calibri"/>
              </a:defRPr>
            </a:pPr>
            <a:r>
              <a:t>Allocate</a:t>
            </a:r>
            <a:br/>
            <a:r>
              <a:t>Resources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98080" y="2697480"/>
            <a:ext cx="11887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333333"/>
                </a:solidFill>
                <a:latin typeface="Calibri"/>
              </a:defRPr>
            </a:pPr>
            <a:r>
              <a:t>Match resources</a:t>
            </a:r>
            <a:br/>
            <a:r>
              <a:t>to needs</a:t>
            </a:r>
          </a:p>
        </p:txBody>
      </p:sp>
      <p:sp>
        <p:nvSpPr>
          <p:cNvPr id="53" name="Right Arrow 52"/>
          <p:cNvSpPr/>
          <p:nvPr/>
        </p:nvSpPr>
        <p:spPr>
          <a:xfrm>
            <a:off x="8732520" y="2240280"/>
            <a:ext cx="137160" cy="182880"/>
          </a:xfrm>
          <a:prstGeom prst="rightArrow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8869680" y="1463040"/>
            <a:ext cx="128016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FA"/>
            </a:solidFill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8869680" y="1463040"/>
            <a:ext cx="1280160" cy="45720"/>
          </a:xfrm>
          <a:prstGeom prst="rect">
            <a:avLst/>
          </a:prstGeom>
          <a:solidFill>
            <a:srgbClr val="E84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9326880" y="1572768"/>
            <a:ext cx="320040" cy="320040"/>
          </a:xfrm>
          <a:prstGeom prst="ellipse">
            <a:avLst/>
          </a:prstGeom>
          <a:solidFill>
            <a:srgbClr val="E84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326880" y="1600200"/>
            <a:ext cx="320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89720" y="1965960"/>
            <a:ext cx="640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200" b="0">
                <a:solidFill>
                  <a:srgbClr val="000000"/>
                </a:solidFill>
                <a:latin typeface="Calibri"/>
              </a:defRPr>
            </a:pPr>
            <a:r>
              <a:t>🔄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915400" y="2377440"/>
            <a:ext cx="1188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>
                <a:solidFill>
                  <a:srgbClr val="E84D8A"/>
                </a:solidFill>
                <a:latin typeface="Calibri"/>
              </a:defRPr>
            </a:pPr>
            <a:r>
              <a:t>Update</a:t>
            </a:r>
            <a:br/>
            <a:r>
              <a:t>Status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15400" y="2697480"/>
            <a:ext cx="11887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333333"/>
                </a:solidFill>
                <a:latin typeface="Calibri"/>
              </a:defRPr>
            </a:pPr>
            <a:r>
              <a:t>Track progress</a:t>
            </a:r>
            <a:br/>
            <a:r>
              <a:t>real-time</a:t>
            </a:r>
          </a:p>
        </p:txBody>
      </p:sp>
      <p:sp>
        <p:nvSpPr>
          <p:cNvPr id="61" name="Right Arrow 60"/>
          <p:cNvSpPr/>
          <p:nvPr/>
        </p:nvSpPr>
        <p:spPr>
          <a:xfrm>
            <a:off x="10149840" y="2240280"/>
            <a:ext cx="137160" cy="182880"/>
          </a:xfrm>
          <a:prstGeom prst="rightArrow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10287000" y="1463040"/>
            <a:ext cx="128016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FA"/>
            </a:solidFill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10287000" y="1463040"/>
            <a:ext cx="1280160" cy="45720"/>
          </a:xfrm>
          <a:prstGeom prst="rect">
            <a:avLst/>
          </a:prstGeom>
          <a:solidFill>
            <a:srgbClr val="00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10744200" y="1572768"/>
            <a:ext cx="320040" cy="320040"/>
          </a:xfrm>
          <a:prstGeom prst="ellipse">
            <a:avLst/>
          </a:prstGeom>
          <a:solidFill>
            <a:srgbClr val="00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0744200" y="1600200"/>
            <a:ext cx="320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607040" y="1965960"/>
            <a:ext cx="640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200" b="0">
                <a:solidFill>
                  <a:srgbClr val="000000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332720" y="2377440"/>
            <a:ext cx="1188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>
                <a:solidFill>
                  <a:srgbClr val="002B5E"/>
                </a:solidFill>
                <a:latin typeface="Calibri"/>
              </a:defRPr>
            </a:pPr>
            <a:r>
              <a:t>Completed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332720" y="2697480"/>
            <a:ext cx="11887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333333"/>
                </a:solidFill>
                <a:latin typeface="Calibri"/>
              </a:defRPr>
            </a:pPr>
            <a:r>
              <a:t>Resolve &amp;</a:t>
            </a:r>
            <a:br/>
            <a:r>
              <a:t>archive case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65760" y="3474720"/>
            <a:ext cx="11430000" cy="292608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D6E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40080" y="356616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002B5E"/>
                </a:solidFill>
                <a:latin typeface="Calibri"/>
              </a:defRPr>
            </a:pPr>
            <a:r>
              <a:t>📋 Detailed Workflow Description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0080" y="3886200"/>
            <a:ext cx="1097280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rPr sz="1400" dirty="0"/>
              <a:t>1. User logs in with credentials → JWT token generated for secure session</a:t>
            </a:r>
            <a:br>
              <a:rPr sz="1400" dirty="0"/>
            </a:br>
            <a:r>
              <a:rPr sz="1400" dirty="0"/>
              <a:t>2. Dashboard loads role-specific data (incidents, tasks, resources based on user type)</a:t>
            </a:r>
            <a:br>
              <a:rPr sz="1400" dirty="0"/>
            </a:br>
            <a:r>
              <a:rPr sz="1400" dirty="0"/>
              <a:t>3. Citizen creates a disaster request with type, description, location &amp; media attachments</a:t>
            </a:r>
            <a:br>
              <a:rPr sz="1400" dirty="0"/>
            </a:br>
            <a:r>
              <a:rPr sz="1400" dirty="0"/>
              <a:t>4. Data is stored in MongoDB with </a:t>
            </a:r>
            <a:r>
              <a:rPr sz="1400" dirty="0" err="1"/>
              <a:t>GeoJSON</a:t>
            </a:r>
            <a:r>
              <a:rPr sz="1400" dirty="0"/>
              <a:t> coordinates for spatial indexing</a:t>
            </a:r>
            <a:br>
              <a:rPr sz="1400" dirty="0"/>
            </a:br>
            <a:r>
              <a:rPr sz="1400" dirty="0"/>
              <a:t>5. Socket.IO broadcasts real-time notification to volunteers &amp; authorities in the zone</a:t>
            </a:r>
            <a:br>
              <a:rPr sz="1400" dirty="0"/>
            </a:br>
            <a:r>
              <a:rPr sz="1400" dirty="0"/>
              <a:t>6. Resources (food, water, medical, shelter) are auto-matched and allocated by the system</a:t>
            </a:r>
            <a:br>
              <a:rPr sz="1400" dirty="0"/>
            </a:br>
            <a:r>
              <a:rPr sz="1400" dirty="0"/>
              <a:t>7. Volunteers update task status (Accepted → In Progress → Completed) in real-time</a:t>
            </a:r>
            <a:br>
              <a:rPr sz="1400" dirty="0"/>
            </a:br>
            <a:r>
              <a:rPr sz="1400" dirty="0"/>
              <a:t>8. Admin reviews and closes completed cases with final reports &amp; analytics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832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Work Performed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4A90D9"/>
                </a:solidFill>
                <a:latin typeface="Calibri"/>
              </a:defRPr>
            </a:pPr>
            <a:r>
              <a:rPr lang="en-US" dirty="0"/>
              <a:t>20 Days</a:t>
            </a:r>
            <a:r>
              <a:rPr dirty="0"/>
              <a:t> Internship Timeline — Key Milestones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474720"/>
            <a:ext cx="11247120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234440" y="3337560"/>
            <a:ext cx="320040" cy="32004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34440" y="3355848"/>
            <a:ext cx="320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1874520"/>
            <a:ext cx="36576" cy="137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7200" y="1874520"/>
            <a:ext cx="15544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FA"/>
            </a:solidFill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3154680"/>
            <a:ext cx="1554480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2011680"/>
            <a:ext cx="5486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0">
                <a:solidFill>
                  <a:srgbClr val="000000"/>
                </a:solidFill>
                <a:latin typeface="Calibri"/>
              </a:defRPr>
            </a:pPr>
            <a:r>
              <a:t>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468880"/>
            <a:ext cx="14173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50" b="0">
                <a:solidFill>
                  <a:srgbClr val="333333"/>
                </a:solidFill>
                <a:latin typeface="Calibri"/>
              </a:defRPr>
            </a:pPr>
            <a:r>
              <a:t>Requirement Analysis</a:t>
            </a:r>
            <a:br/>
            <a:r>
              <a:t>&amp; Project Planning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691640"/>
            <a:ext cx="1554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1">
                <a:solidFill>
                  <a:srgbClr val="0070C0"/>
                </a:solidFill>
                <a:latin typeface="Calibri"/>
              </a:defRPr>
            </a:pPr>
            <a:r>
              <a:rPr dirty="0"/>
              <a:t>J</a:t>
            </a:r>
            <a:r>
              <a:rPr lang="en-US" dirty="0"/>
              <a:t>uly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548640" y="1417320"/>
            <a:ext cx="1554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0">
                <a:solidFill>
                  <a:srgbClr val="666666"/>
                </a:solidFill>
                <a:latin typeface="Calibri"/>
              </a:defRPr>
            </a:pPr>
            <a:r>
              <a:rPr dirty="0"/>
              <a:t>Week 1</a:t>
            </a:r>
          </a:p>
        </p:txBody>
      </p:sp>
      <p:sp>
        <p:nvSpPr>
          <p:cNvPr id="16" name="Oval 15"/>
          <p:cNvSpPr/>
          <p:nvPr/>
        </p:nvSpPr>
        <p:spPr>
          <a:xfrm>
            <a:off x="3154680" y="3337560"/>
            <a:ext cx="320040" cy="3200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154680" y="3355848"/>
            <a:ext cx="320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1874520"/>
            <a:ext cx="36576" cy="1371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377440" y="1874520"/>
            <a:ext cx="15544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FA"/>
            </a:solidFill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377440" y="3154680"/>
            <a:ext cx="155448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880360" y="2011680"/>
            <a:ext cx="5486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0">
                <a:solidFill>
                  <a:srgbClr val="000000"/>
                </a:solidFill>
                <a:latin typeface="Calibri"/>
              </a:defRPr>
            </a:pPr>
            <a:r>
              <a:t>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50592" y="2468880"/>
            <a:ext cx="14173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50" b="0">
                <a:solidFill>
                  <a:srgbClr val="333333"/>
                </a:solidFill>
                <a:latin typeface="Calibri"/>
              </a:defRPr>
            </a:pPr>
            <a:r>
              <a:t>UI/UX Design</a:t>
            </a:r>
            <a:br/>
            <a:r>
              <a:t>&amp; Prototyping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1691640"/>
            <a:ext cx="1554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1">
                <a:solidFill>
                  <a:srgbClr val="10B981"/>
                </a:solidFill>
                <a:latin typeface="Calibri"/>
              </a:defRPr>
            </a:pPr>
            <a:r>
              <a:rPr dirty="0"/>
              <a:t>J</a:t>
            </a:r>
            <a:r>
              <a:rPr lang="en-US" dirty="0"/>
              <a:t>uly</a:t>
            </a:r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2468880" y="1417320"/>
            <a:ext cx="1554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0">
                <a:solidFill>
                  <a:srgbClr val="666666"/>
                </a:solidFill>
                <a:latin typeface="Calibri"/>
              </a:defRPr>
            </a:pPr>
            <a:r>
              <a:rPr dirty="0"/>
              <a:t>Week </a:t>
            </a:r>
            <a:r>
              <a:rPr lang="en-US" dirty="0"/>
              <a:t>1</a:t>
            </a:r>
            <a:endParaRPr dirty="0"/>
          </a:p>
        </p:txBody>
      </p:sp>
      <p:sp>
        <p:nvSpPr>
          <p:cNvPr id="25" name="Oval 24"/>
          <p:cNvSpPr/>
          <p:nvPr/>
        </p:nvSpPr>
        <p:spPr>
          <a:xfrm>
            <a:off x="5074920" y="3337560"/>
            <a:ext cx="320040" cy="320040"/>
          </a:xfrm>
          <a:prstGeom prst="ellipse">
            <a:avLst/>
          </a:prstGeom>
          <a:solidFill>
            <a:srgbClr val="F09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74920" y="3355848"/>
            <a:ext cx="320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12080" y="1874520"/>
            <a:ext cx="36576" cy="1371600"/>
          </a:xfrm>
          <a:prstGeom prst="rect">
            <a:avLst/>
          </a:prstGeom>
          <a:solidFill>
            <a:srgbClr val="F09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4297680" y="1874520"/>
            <a:ext cx="15544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FA"/>
            </a:solidFill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297680" y="3154680"/>
            <a:ext cx="1554480" cy="36576"/>
          </a:xfrm>
          <a:prstGeom prst="rect">
            <a:avLst/>
          </a:prstGeom>
          <a:solidFill>
            <a:srgbClr val="F09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800600" y="2011680"/>
            <a:ext cx="5486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0">
                <a:solidFill>
                  <a:srgbClr val="000000"/>
                </a:solidFill>
                <a:latin typeface="Calibri"/>
              </a:defRPr>
            </a:pPr>
            <a:r>
              <a:t>⚛️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70832" y="2468880"/>
            <a:ext cx="14173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50" b="0">
                <a:solidFill>
                  <a:srgbClr val="333333"/>
                </a:solidFill>
                <a:latin typeface="Calibri"/>
              </a:defRPr>
            </a:pPr>
            <a:r>
              <a:t>Frontend Development</a:t>
            </a:r>
            <a:br/>
            <a:r>
              <a:t>(React + TypeScript)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1691640"/>
            <a:ext cx="1554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1">
                <a:solidFill>
                  <a:srgbClr val="F0920A"/>
                </a:solidFill>
                <a:latin typeface="Calibri"/>
              </a:defRPr>
            </a:pPr>
            <a:r>
              <a:rPr lang="en-US" dirty="0"/>
              <a:t>July</a:t>
            </a:r>
            <a:endParaRPr dirty="0"/>
          </a:p>
        </p:txBody>
      </p:sp>
      <p:sp>
        <p:nvSpPr>
          <p:cNvPr id="33" name="TextBox 32"/>
          <p:cNvSpPr txBox="1"/>
          <p:nvPr/>
        </p:nvSpPr>
        <p:spPr>
          <a:xfrm>
            <a:off x="4389120" y="1417320"/>
            <a:ext cx="1554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0">
                <a:solidFill>
                  <a:srgbClr val="666666"/>
                </a:solidFill>
                <a:latin typeface="Calibri"/>
              </a:defRPr>
            </a:pPr>
            <a:r>
              <a:rPr dirty="0"/>
              <a:t>Week </a:t>
            </a:r>
            <a:r>
              <a:rPr lang="en-US" dirty="0"/>
              <a:t>1</a:t>
            </a:r>
            <a:endParaRPr dirty="0"/>
          </a:p>
        </p:txBody>
      </p:sp>
      <p:sp>
        <p:nvSpPr>
          <p:cNvPr id="34" name="Oval 33"/>
          <p:cNvSpPr/>
          <p:nvPr/>
        </p:nvSpPr>
        <p:spPr>
          <a:xfrm>
            <a:off x="6995160" y="3337560"/>
            <a:ext cx="320040" cy="3200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995160" y="3355848"/>
            <a:ext cx="320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32320" y="3703320"/>
            <a:ext cx="36576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217920" y="3794760"/>
            <a:ext cx="15544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FA"/>
            </a:solidFill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217920" y="3794760"/>
            <a:ext cx="155448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720840" y="3886200"/>
            <a:ext cx="5486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0">
                <a:solidFill>
                  <a:srgbClr val="000000"/>
                </a:solidFill>
                <a:latin typeface="Calibri"/>
              </a:defRPr>
            </a:pPr>
            <a:r>
              <a:t>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1072" y="4297680"/>
            <a:ext cx="14173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50" b="0">
                <a:solidFill>
                  <a:srgbClr val="333333"/>
                </a:solidFill>
                <a:latin typeface="Calibri"/>
              </a:defRPr>
            </a:pPr>
            <a:r>
              <a:t>Authentication &amp; Backend</a:t>
            </a:r>
            <a:br/>
            <a:r>
              <a:t>(Node + Express + JWT)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5212080"/>
            <a:ext cx="1554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1">
                <a:solidFill>
                  <a:srgbClr val="EF4444"/>
                </a:solidFill>
                <a:latin typeface="Calibri"/>
              </a:defRPr>
            </a:pPr>
            <a:r>
              <a:rPr lang="en-US" dirty="0"/>
              <a:t>July</a:t>
            </a:r>
            <a:endParaRPr dirty="0"/>
          </a:p>
        </p:txBody>
      </p:sp>
      <p:sp>
        <p:nvSpPr>
          <p:cNvPr id="42" name="TextBox 41"/>
          <p:cNvSpPr txBox="1"/>
          <p:nvPr/>
        </p:nvSpPr>
        <p:spPr>
          <a:xfrm>
            <a:off x="6309360" y="5486400"/>
            <a:ext cx="1554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0">
                <a:solidFill>
                  <a:srgbClr val="666666"/>
                </a:solidFill>
                <a:latin typeface="Calibri"/>
              </a:defRPr>
            </a:pPr>
            <a:r>
              <a:rPr dirty="0"/>
              <a:t>Week </a:t>
            </a:r>
            <a:r>
              <a:rPr lang="en-US" dirty="0"/>
              <a:t>2</a:t>
            </a:r>
            <a:endParaRPr dirty="0"/>
          </a:p>
        </p:txBody>
      </p:sp>
      <p:sp>
        <p:nvSpPr>
          <p:cNvPr id="43" name="Oval 42"/>
          <p:cNvSpPr/>
          <p:nvPr/>
        </p:nvSpPr>
        <p:spPr>
          <a:xfrm>
            <a:off x="8915400" y="3337560"/>
            <a:ext cx="320040" cy="3200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915400" y="3355848"/>
            <a:ext cx="320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052560" y="3703320"/>
            <a:ext cx="36576" cy="1371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8138160" y="3794760"/>
            <a:ext cx="15544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FA"/>
            </a:solidFill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138160" y="3794760"/>
            <a:ext cx="155448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641080" y="3886200"/>
            <a:ext cx="5486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0">
                <a:solidFill>
                  <a:srgbClr val="000000"/>
                </a:solidFill>
                <a:latin typeface="Calibri"/>
              </a:defRPr>
            </a:pPr>
            <a:r>
              <a:t>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11312" y="4297680"/>
            <a:ext cx="14173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50" b="0">
                <a:solidFill>
                  <a:srgbClr val="333333"/>
                </a:solidFill>
                <a:latin typeface="Calibri"/>
              </a:defRPr>
            </a:pPr>
            <a:r>
              <a:t>Socket.IO Real-Time</a:t>
            </a:r>
            <a:br/>
            <a:r>
              <a:t>&amp; MongoDB Integration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0" y="5212080"/>
            <a:ext cx="1554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1">
                <a:solidFill>
                  <a:srgbClr val="8B5CF6"/>
                </a:solidFill>
                <a:latin typeface="Calibri"/>
              </a:defRPr>
            </a:pPr>
            <a:r>
              <a:rPr lang="en-US" dirty="0"/>
              <a:t>July</a:t>
            </a:r>
            <a:endParaRPr dirty="0"/>
          </a:p>
        </p:txBody>
      </p:sp>
      <p:sp>
        <p:nvSpPr>
          <p:cNvPr id="51" name="TextBox 50"/>
          <p:cNvSpPr txBox="1"/>
          <p:nvPr/>
        </p:nvSpPr>
        <p:spPr>
          <a:xfrm>
            <a:off x="8229600" y="5486400"/>
            <a:ext cx="1554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0">
                <a:solidFill>
                  <a:srgbClr val="666666"/>
                </a:solidFill>
                <a:latin typeface="Calibri"/>
              </a:defRPr>
            </a:pPr>
            <a:r>
              <a:rPr dirty="0"/>
              <a:t>Week </a:t>
            </a:r>
            <a:r>
              <a:rPr lang="en-US" dirty="0"/>
              <a:t>2</a:t>
            </a:r>
            <a:endParaRPr dirty="0"/>
          </a:p>
        </p:txBody>
      </p:sp>
      <p:sp>
        <p:nvSpPr>
          <p:cNvPr id="52" name="Oval 51"/>
          <p:cNvSpPr/>
          <p:nvPr/>
        </p:nvSpPr>
        <p:spPr>
          <a:xfrm>
            <a:off x="10835640" y="3337560"/>
            <a:ext cx="320040" cy="320040"/>
          </a:xfrm>
          <a:prstGeom prst="ellipse">
            <a:avLst/>
          </a:prstGeom>
          <a:solidFill>
            <a:srgbClr val="0EA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0835640" y="3355848"/>
            <a:ext cx="320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972800" y="3703320"/>
            <a:ext cx="36576" cy="1371600"/>
          </a:xfrm>
          <a:prstGeom prst="rect">
            <a:avLst/>
          </a:prstGeom>
          <a:solidFill>
            <a:srgbClr val="0EA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10058400" y="3794760"/>
            <a:ext cx="15544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FA"/>
            </a:solidFill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10058400" y="3794760"/>
            <a:ext cx="1554480" cy="36576"/>
          </a:xfrm>
          <a:prstGeom prst="rect">
            <a:avLst/>
          </a:prstGeom>
          <a:solidFill>
            <a:srgbClr val="0EA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0561320" y="3886200"/>
            <a:ext cx="5486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0">
                <a:solidFill>
                  <a:srgbClr val="000000"/>
                </a:solidFill>
                <a:latin typeface="Calibri"/>
              </a:defRPr>
            </a:pPr>
            <a:r>
              <a:t>🧪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131552" y="4297680"/>
            <a:ext cx="14173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50" b="0">
                <a:solidFill>
                  <a:srgbClr val="333333"/>
                </a:solidFill>
                <a:latin typeface="Calibri"/>
              </a:defRPr>
            </a:pPr>
            <a:r>
              <a:t>Testing, Documentation</a:t>
            </a:r>
            <a:br/>
            <a:r>
              <a:t>&amp; Deployment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149840" y="5212080"/>
            <a:ext cx="1554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1">
                <a:solidFill>
                  <a:srgbClr val="0EA59E"/>
                </a:solidFill>
                <a:latin typeface="Calibri"/>
              </a:defRPr>
            </a:pPr>
            <a:r>
              <a:rPr lang="en-US" dirty="0"/>
              <a:t>July</a:t>
            </a:r>
            <a:endParaRPr dirty="0"/>
          </a:p>
        </p:txBody>
      </p:sp>
      <p:sp>
        <p:nvSpPr>
          <p:cNvPr id="60" name="TextBox 59"/>
          <p:cNvSpPr txBox="1"/>
          <p:nvPr/>
        </p:nvSpPr>
        <p:spPr>
          <a:xfrm>
            <a:off x="10149840" y="5486400"/>
            <a:ext cx="1554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0">
                <a:solidFill>
                  <a:srgbClr val="666666"/>
                </a:solidFill>
                <a:latin typeface="Calibri"/>
              </a:defRPr>
            </a:pPr>
            <a:r>
              <a:rPr dirty="0"/>
              <a:t>Week </a:t>
            </a:r>
            <a:r>
              <a:rPr lang="en-US" dirty="0"/>
              <a:t>2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71016"/>
          </a:xfrm>
          <a:prstGeom prst="rect">
            <a:avLst/>
          </a:prstGeom>
          <a:solidFill>
            <a:srgbClr val="002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4A90D9"/>
                </a:solidFill>
                <a:latin typeface="Calibri"/>
              </a:defRPr>
            </a:pPr>
            <a:r>
              <a:t>Key Screens &amp; Interface Showcase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71600"/>
            <a:ext cx="2651760" cy="237744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D6E8FA"/>
            </a:solidFill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508760"/>
            <a:ext cx="237744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3063240"/>
            <a:ext cx="23774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1">
                <a:solidFill>
                  <a:srgbClr val="0070C0"/>
                </a:solidFill>
                <a:latin typeface="Calibri"/>
              </a:defRPr>
            </a:pPr>
            <a:r>
              <a:t>Login Page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337560"/>
            <a:ext cx="2377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50" b="0">
                <a:solidFill>
                  <a:srgbClr val="333333"/>
                </a:solidFill>
                <a:latin typeface="Calibri"/>
              </a:defRPr>
            </a:pPr>
            <a:r>
              <a:t>JWT Authentication</a:t>
            </a:r>
            <a:br/>
            <a:r>
              <a:t>with Role Selection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1371600"/>
            <a:ext cx="2651760" cy="237744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D6E8FA"/>
            </a:solidFill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383280" y="1508760"/>
            <a:ext cx="237744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83280" y="3063240"/>
            <a:ext cx="23774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1">
                <a:solidFill>
                  <a:srgbClr val="10B981"/>
                </a:solidFill>
                <a:latin typeface="Calibri"/>
              </a:defRPr>
            </a:pPr>
            <a:r>
              <a:t>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337560"/>
            <a:ext cx="2377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50" b="0">
                <a:solidFill>
                  <a:srgbClr val="333333"/>
                </a:solidFill>
                <a:latin typeface="Calibri"/>
              </a:defRPr>
            </a:pPr>
            <a:r>
              <a:t>Role-based KPI Cards</a:t>
            </a:r>
            <a:br/>
            <a:r>
              <a:t>&amp; Activity Feed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1371600"/>
            <a:ext cx="2651760" cy="237744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D6E8FA"/>
            </a:solidFill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263640" y="1508760"/>
            <a:ext cx="237744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63640" y="3063240"/>
            <a:ext cx="23774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1">
                <a:solidFill>
                  <a:srgbClr val="F0920A"/>
                </a:solidFill>
                <a:latin typeface="Calibri"/>
              </a:defRPr>
            </a:pPr>
            <a:r>
              <a:t>Interactive Map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3337560"/>
            <a:ext cx="2377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50" b="0">
                <a:solidFill>
                  <a:srgbClr val="333333"/>
                </a:solidFill>
                <a:latin typeface="Calibri"/>
              </a:defRPr>
            </a:pPr>
            <a:r>
              <a:t>Leaflet GIS with</a:t>
            </a:r>
            <a:br/>
            <a:r>
              <a:t>Incident Markers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6840" y="1371600"/>
            <a:ext cx="2651760" cy="237744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D6E8FA"/>
            </a:solidFill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144000" y="1508760"/>
            <a:ext cx="237744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0" y="3063240"/>
            <a:ext cx="23774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1">
                <a:solidFill>
                  <a:srgbClr val="EF4444"/>
                </a:solidFill>
                <a:latin typeface="Calibri"/>
              </a:defRPr>
            </a:pPr>
            <a:r>
              <a:t>SOS Alert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337560"/>
            <a:ext cx="2377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50" b="0">
                <a:solidFill>
                  <a:srgbClr val="333333"/>
                </a:solidFill>
                <a:latin typeface="Calibri"/>
              </a:defRPr>
            </a:pPr>
            <a:r>
              <a:t>Emergency Broadcast</a:t>
            </a:r>
            <a:br/>
            <a:r>
              <a:t>with GPS Location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4023360"/>
            <a:ext cx="2651760" cy="237744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D6E8FA"/>
            </a:solidFill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502920" y="4160520"/>
            <a:ext cx="237744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2920" y="5715000"/>
            <a:ext cx="23774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1">
                <a:solidFill>
                  <a:srgbClr val="8B5CF6"/>
                </a:solidFill>
                <a:latin typeface="Calibri"/>
              </a:defRPr>
            </a:pPr>
            <a:r>
              <a:t>Admin Panel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5989320"/>
            <a:ext cx="2377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50" b="0">
                <a:solidFill>
                  <a:srgbClr val="333333"/>
                </a:solidFill>
                <a:latin typeface="Calibri"/>
              </a:defRPr>
            </a:pPr>
            <a:r>
              <a:t>User Management</a:t>
            </a:r>
            <a:br/>
            <a:r>
              <a:t>&amp; System Config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46120" y="4023360"/>
            <a:ext cx="2651760" cy="237744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D6E8FA"/>
            </a:solidFill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3383280" y="4160520"/>
            <a:ext cx="237744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383280" y="5715000"/>
            <a:ext cx="23774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1">
                <a:solidFill>
                  <a:srgbClr val="0EA59E"/>
                </a:solidFill>
                <a:latin typeface="Calibri"/>
              </a:defRPr>
            </a:pPr>
            <a:r>
              <a:t>Requests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83280" y="5989320"/>
            <a:ext cx="2377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50" b="0">
                <a:solidFill>
                  <a:srgbClr val="333333"/>
                </a:solidFill>
                <a:latin typeface="Calibri"/>
              </a:defRPr>
            </a:pPr>
            <a:r>
              <a:t>Disaster Request</a:t>
            </a:r>
            <a:br/>
            <a:r>
              <a:t>Management List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26480" y="4023360"/>
            <a:ext cx="2651760" cy="237744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D6E8FA"/>
            </a:solidFill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6263640" y="4160520"/>
            <a:ext cx="237744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263640" y="5715000"/>
            <a:ext cx="23774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1">
                <a:solidFill>
                  <a:srgbClr val="E84D8A"/>
                </a:solidFill>
                <a:latin typeface="Calibri"/>
              </a:defRPr>
            </a:pPr>
            <a:r>
              <a:t>Volunteer Panel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5989320"/>
            <a:ext cx="2377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50" b="0">
                <a:solidFill>
                  <a:srgbClr val="333333"/>
                </a:solidFill>
                <a:latin typeface="Calibri"/>
              </a:defRPr>
            </a:pPr>
            <a:r>
              <a:t>Task Assignment</a:t>
            </a:r>
            <a:br/>
            <a:r>
              <a:t>&amp; Status Updates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006840" y="4023360"/>
            <a:ext cx="2651760" cy="237744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D6E8FA"/>
            </a:solidFill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9144000" y="4160520"/>
            <a:ext cx="237744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44000" y="5715000"/>
            <a:ext cx="23774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1">
                <a:solidFill>
                  <a:srgbClr val="002B5E"/>
                </a:solidFill>
                <a:latin typeface="Calibri"/>
              </a:defRPr>
            </a:pPr>
            <a:r>
              <a:t>Resources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0" y="5989320"/>
            <a:ext cx="2377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50" b="0">
                <a:solidFill>
                  <a:srgbClr val="333333"/>
                </a:solidFill>
                <a:latin typeface="Calibri"/>
              </a:defRPr>
            </a:pPr>
            <a:r>
              <a:t>Inventory Tracking</a:t>
            </a:r>
            <a:br/>
            <a:r>
              <a:t>&amp; Allocation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CFBCAB5F-EF11-3ACB-3B8A-5332017B30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589" y="1501511"/>
            <a:ext cx="2042465" cy="1271506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72C76B23-9E0A-CFD4-A320-2169B14D63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7385" y="1760890"/>
            <a:ext cx="2023895" cy="973006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CF25039B-AE4B-59AD-B04C-F1C988F7D6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1127" y="1728216"/>
            <a:ext cx="2108186" cy="1009179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B13BD9A1-36E6-943F-EE13-1307EB9AB8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6630" y="1724082"/>
            <a:ext cx="2030047" cy="973398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8506E420-3B11-3B22-E168-6756CB0853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0226" y="4392651"/>
            <a:ext cx="2022828" cy="973006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95BE0221-8F2D-BE86-51BC-3B0F7E6724C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57385" y="4368196"/>
            <a:ext cx="2029229" cy="1047688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90859398-333D-2ABE-6B17-409D588D8A8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21306" y="4368196"/>
            <a:ext cx="2022828" cy="968738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03F644A4-00C4-0934-A72E-03A78927E8B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31127" y="4392651"/>
            <a:ext cx="2028163" cy="105622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Testing &amp; Quality Assurance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4A90D9"/>
                </a:solidFill>
                <a:latin typeface="Calibri"/>
              </a:defRPr>
            </a:pPr>
            <a:r>
              <a:t>Comprehensive Testing Strategy for Robust Application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20574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FA"/>
            </a:solidFill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057400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70432" y="1508760"/>
            <a:ext cx="502920" cy="502920"/>
          </a:xfrm>
          <a:prstGeom prst="ellipse">
            <a:avLst/>
          </a:prstGeom>
          <a:solidFill>
            <a:srgbClr val="0070C0"/>
          </a:solidFill>
          <a:ln>
            <a:noFill/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70432" y="15087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Segoe UI Emoji"/>
              </a:defRPr>
            </a:pPr>
            <a:r>
              <a:t>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03120"/>
            <a:ext cx="1874519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>
                <a:solidFill>
                  <a:srgbClr val="0070C0"/>
                </a:solidFill>
                <a:latin typeface="Calibri"/>
              </a:defRPr>
            </a:pPr>
            <a:r>
              <a:t>Unit Testing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51760"/>
            <a:ext cx="1874519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50" b="0">
                <a:solidFill>
                  <a:srgbClr val="333333"/>
                </a:solidFill>
                <a:latin typeface="Calibri"/>
              </a:defRPr>
            </a:pPr>
            <a:r>
              <a:t>Individual components</a:t>
            </a:r>
            <a:br/>
            <a:r>
              <a:t>&amp; functions tested</a:t>
            </a:r>
            <a:br/>
            <a:r>
              <a:t>with Vitest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1371600"/>
            <a:ext cx="20574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FA"/>
            </a:solidFill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43200" y="1371600"/>
            <a:ext cx="20574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456432" y="150876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56432" y="15087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Segoe UI Emoji"/>
              </a:defRPr>
            </a:pPr>
            <a:r>
              <a:t>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2103120"/>
            <a:ext cx="1874519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>
                <a:solidFill>
                  <a:srgbClr val="10B981"/>
                </a:solidFill>
                <a:latin typeface="Calibri"/>
              </a:defRPr>
            </a:pPr>
            <a:r>
              <a:t>Integration</a:t>
            </a:r>
            <a:br/>
            <a:r>
              <a:t>Testing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651760"/>
            <a:ext cx="1874519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50" b="0">
                <a:solidFill>
                  <a:srgbClr val="333333"/>
                </a:solidFill>
                <a:latin typeface="Calibri"/>
              </a:defRPr>
            </a:pPr>
            <a:r>
              <a:t>API endpoints &amp;</a:t>
            </a:r>
            <a:br/>
            <a:r>
              <a:t>module interaction</a:t>
            </a:r>
            <a:br/>
            <a:r>
              <a:t>verification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1371600"/>
            <a:ext cx="20574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FA"/>
            </a:solidFill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29200" y="1371600"/>
            <a:ext cx="2057400" cy="54864"/>
          </a:xfrm>
          <a:prstGeom prst="rect">
            <a:avLst/>
          </a:prstGeom>
          <a:solidFill>
            <a:srgbClr val="F09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742432" y="1508760"/>
            <a:ext cx="502920" cy="502920"/>
          </a:xfrm>
          <a:prstGeom prst="ellipse">
            <a:avLst/>
          </a:prstGeom>
          <a:solidFill>
            <a:srgbClr val="F0920A"/>
          </a:solidFill>
          <a:ln>
            <a:noFill/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742432" y="15087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Segoe UI Emoji"/>
              </a:defRPr>
            </a:pPr>
            <a:r>
              <a:t>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2103120"/>
            <a:ext cx="1874519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>
                <a:solidFill>
                  <a:srgbClr val="F0920A"/>
                </a:solidFill>
                <a:latin typeface="Calibri"/>
              </a:defRPr>
            </a:pPr>
            <a:r>
              <a:t>API Testing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2651760"/>
            <a:ext cx="1874519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50" b="0">
                <a:solidFill>
                  <a:srgbClr val="333333"/>
                </a:solidFill>
                <a:latin typeface="Calibri"/>
              </a:defRPr>
            </a:pPr>
            <a:r>
              <a:t>RESTful API validation</a:t>
            </a:r>
            <a:br/>
            <a:r>
              <a:t>with Postman &amp;</a:t>
            </a:r>
            <a:br/>
            <a:r>
              <a:t>Supertest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1371600"/>
            <a:ext cx="20574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FA"/>
            </a:solidFill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315200" y="1371600"/>
            <a:ext cx="205740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028432" y="1508760"/>
            <a:ext cx="502920" cy="502920"/>
          </a:xfrm>
          <a:prstGeom prst="ellipse">
            <a:avLst/>
          </a:prstGeom>
          <a:solidFill>
            <a:srgbClr val="EF4444"/>
          </a:solidFill>
          <a:ln>
            <a:noFill/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28432" y="15087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Segoe UI Emoji"/>
              </a:defRPr>
            </a:pPr>
            <a:r>
              <a:t>⚙️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2103120"/>
            <a:ext cx="1874519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>
                <a:solidFill>
                  <a:srgbClr val="EF4444"/>
                </a:solidFill>
                <a:latin typeface="Calibri"/>
              </a:defRPr>
            </a:pPr>
            <a:r>
              <a:t>System</a:t>
            </a:r>
            <a:br/>
            <a:r>
              <a:t>Testing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2651760"/>
            <a:ext cx="1874519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50" b="0">
                <a:solidFill>
                  <a:srgbClr val="333333"/>
                </a:solidFill>
                <a:latin typeface="Calibri"/>
              </a:defRPr>
            </a:pPr>
            <a:r>
              <a:t>End-to-end workflows</a:t>
            </a:r>
            <a:br/>
            <a:r>
              <a:t>using Playwright</a:t>
            </a:r>
            <a:br/>
            <a:r>
              <a:t>framework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01200" y="1371600"/>
            <a:ext cx="20574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FA"/>
            </a:solidFill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601200" y="1371600"/>
            <a:ext cx="205740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0314432" y="1508760"/>
            <a:ext cx="502920" cy="502920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314432" y="15087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Segoe UI Emoji"/>
              </a:defRPr>
            </a:pPr>
            <a:r>
              <a:t>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2103120"/>
            <a:ext cx="1874519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>
                <a:solidFill>
                  <a:srgbClr val="8B5CF6"/>
                </a:solidFill>
                <a:latin typeface="Calibri"/>
              </a:defRPr>
            </a:pPr>
            <a:r>
              <a:t>Acceptance</a:t>
            </a:r>
            <a:br/>
            <a:r>
              <a:t>Testing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2651760"/>
            <a:ext cx="1874519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50" b="0">
                <a:solidFill>
                  <a:srgbClr val="333333"/>
                </a:solidFill>
                <a:latin typeface="Calibri"/>
              </a:defRPr>
            </a:pPr>
            <a:r>
              <a:t>User acceptance &amp;</a:t>
            </a:r>
            <a:br/>
            <a:r>
              <a:t>stakeholder feedback</a:t>
            </a:r>
            <a:br/>
            <a:r>
              <a:t>validation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749039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002B5E"/>
                </a:solidFill>
                <a:latin typeface="Calibri"/>
              </a:defRPr>
            </a:pPr>
            <a:r>
              <a:t>📊 Test Results Summary</a:t>
            </a:r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457200" y="4023360"/>
          <a:ext cx="64008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Type</a:t>
                      </a:r>
                    </a:p>
                  </a:txBody>
                  <a:tcPr>
                    <a:solidFill>
                      <a:srgbClr val="002B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Cases</a:t>
                      </a:r>
                    </a:p>
                  </a:txBody>
                  <a:tcPr>
                    <a:solidFill>
                      <a:srgbClr val="002B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002B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Failed</a:t>
                      </a:r>
                    </a:p>
                  </a:txBody>
                  <a:tcPr>
                    <a:solidFill>
                      <a:srgbClr val="002B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Coverage</a:t>
                      </a:r>
                    </a:p>
                  </a:txBody>
                  <a:tcPr>
                    <a:solidFill>
                      <a:srgbClr val="002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>
                        <a:defRPr sz="1000">
                          <a:latin typeface="Calibri"/>
                        </a:defRPr>
                      </a:pPr>
                      <a:r>
                        <a:t>Unit 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92%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>
                        <a:defRPr sz="1000">
                          <a:latin typeface="Calibri"/>
                        </a:defRPr>
                      </a:pPr>
                      <a:r>
                        <a:t>Integration Tests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45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44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88%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>
                        <a:defRPr sz="1000">
                          <a:latin typeface="Calibri"/>
                        </a:defRPr>
                      </a:pPr>
                      <a:r>
                        <a:t>API 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95%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>
                        <a:defRPr sz="1000">
                          <a:latin typeface="Calibri"/>
                        </a:defRPr>
                      </a:pPr>
                      <a:r>
                        <a:t>E2E (Playwright)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85%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>
                        <a:defRPr sz="1000">
                          <a:latin typeface="Calibri"/>
                        </a:defRPr>
                      </a:pPr>
                      <a:r>
                        <a:t>Accessibility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WCAG AA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7315200" y="3749039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002B5E"/>
                </a:solidFill>
                <a:latin typeface="Calibri"/>
              </a:defRPr>
            </a:pPr>
            <a:r>
              <a:t>🏆 QA Achievements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0" y="4114800"/>
            <a:ext cx="4114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333333"/>
                </a:solidFill>
                <a:latin typeface="Calibri"/>
              </a:defRPr>
            </a:pPr>
            <a:r>
              <a:t>✓  225+ total test cases executed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4462272"/>
            <a:ext cx="4114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333333"/>
                </a:solidFill>
                <a:latin typeface="Calibri"/>
              </a:defRPr>
            </a:pPr>
            <a:r>
              <a:t>✓  98.7% overall pass rate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4809744"/>
            <a:ext cx="4114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333333"/>
                </a:solidFill>
                <a:latin typeface="Calibri"/>
              </a:defRPr>
            </a:pPr>
            <a:r>
              <a:t>✓  WCAG AA accessibility compliance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0" y="5157216"/>
            <a:ext cx="4114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333333"/>
                </a:solidFill>
                <a:latin typeface="Calibri"/>
              </a:defRPr>
            </a:pPr>
            <a:r>
              <a:t>✓  Zero critical security vulnerabilities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0" y="5504688"/>
            <a:ext cx="4114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333333"/>
                </a:solidFill>
                <a:latin typeface="Calibri"/>
              </a:defRPr>
            </a:pPr>
            <a:r>
              <a:t>✓  CI/CD pipeline with automated testing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0" y="5852160"/>
            <a:ext cx="4114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333333"/>
                </a:solidFill>
                <a:latin typeface="Calibri"/>
              </a:defRPr>
            </a:pPr>
            <a:r>
              <a:t>✓  Playwright E2E in headless Chrome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Results &amp; Achievements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4A90D9"/>
                </a:solidFill>
                <a:latin typeface="Calibri"/>
              </a:defRPr>
            </a:pPr>
            <a:r>
              <a:t>Deliverables, Performance Metrics &amp; Key Accomplishments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71600"/>
            <a:ext cx="21031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FA"/>
            </a:solidFill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508760"/>
            <a:ext cx="21031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000" b="1">
                <a:solidFill>
                  <a:srgbClr val="0070C0"/>
                </a:solidFill>
                <a:latin typeface="Calibri"/>
              </a:defRPr>
            </a:pPr>
            <a:r>
              <a:t>20+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03120"/>
            <a:ext cx="2103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Pages</a:t>
            </a:r>
            <a:br/>
            <a:r>
              <a:t>Developed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79" y="1371600"/>
            <a:ext cx="21031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FA"/>
            </a:solidFill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97479" y="1508760"/>
            <a:ext cx="21031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000" b="1">
                <a:solidFill>
                  <a:srgbClr val="10B981"/>
                </a:solidFill>
                <a:latin typeface="Calibri"/>
              </a:defRPr>
            </a:pPr>
            <a:r>
              <a:t>30+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79" y="2103120"/>
            <a:ext cx="2103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API</a:t>
            </a:r>
            <a:br/>
            <a:r>
              <a:t>Endpoints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1371600"/>
            <a:ext cx="21031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FA"/>
            </a:solidFill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0" y="1508760"/>
            <a:ext cx="21031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000" b="1">
                <a:solidFill>
                  <a:srgbClr val="F0920A"/>
                </a:solidFill>
                <a:latin typeface="Calibri"/>
              </a:defRPr>
            </a:pPr>
            <a:r>
              <a:t>95%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103120"/>
            <a:ext cx="2103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Test</a:t>
            </a:r>
            <a:br/>
            <a:r>
              <a:t>Coverage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19" y="1371600"/>
            <a:ext cx="21031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FA"/>
            </a:solidFill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60919" y="1508760"/>
            <a:ext cx="21031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000" b="1">
                <a:solidFill>
                  <a:srgbClr val="EF4444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19" y="2103120"/>
            <a:ext cx="2103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Languages</a:t>
            </a:r>
            <a:br/>
            <a:r>
              <a:t>Supported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92640" y="1371600"/>
            <a:ext cx="21031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FA"/>
            </a:solidFill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92640" y="1508760"/>
            <a:ext cx="21031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000" b="1">
                <a:solidFill>
                  <a:srgbClr val="8B5CF6"/>
                </a:solidFill>
                <a:latin typeface="Calibri"/>
              </a:defRPr>
            </a:pPr>
            <a:r>
              <a:rPr lang="en-US" dirty="0"/>
              <a:t>3</a:t>
            </a:r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9692640" y="2103120"/>
            <a:ext cx="2103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User</a:t>
            </a:r>
            <a:br/>
            <a:r>
              <a:t>Roles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01752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002B5E"/>
                </a:solidFill>
                <a:latin typeface="Calibri"/>
              </a:defRPr>
            </a:pPr>
            <a:r>
              <a:t>✅ Features Completed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337560"/>
            <a:ext cx="5669280" cy="2926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50" b="0">
                <a:solidFill>
                  <a:srgbClr val="333333"/>
                </a:solidFill>
                <a:latin typeface="Calibri"/>
              </a:defRPr>
            </a:pPr>
            <a:r>
              <a:rPr sz="1400" dirty="0"/>
              <a:t>• JWT-based authentication with 5 role-based access levels</a:t>
            </a:r>
            <a:br>
              <a:rPr sz="1400" dirty="0"/>
            </a:br>
            <a:r>
              <a:rPr sz="1400" dirty="0"/>
              <a:t>• Real-time SOS alert system with GPS coordinates</a:t>
            </a:r>
            <a:br>
              <a:rPr sz="1400" dirty="0"/>
            </a:br>
            <a:r>
              <a:rPr sz="1400" dirty="0"/>
              <a:t>• Interactive GIS maps with Leaflet &amp; OpenStreetMap</a:t>
            </a:r>
            <a:br>
              <a:rPr sz="1400" dirty="0"/>
            </a:br>
            <a:r>
              <a:rPr sz="1400" dirty="0"/>
              <a:t>• Multi-language support (English + 9 Indian languages)</a:t>
            </a:r>
            <a:br>
              <a:rPr sz="1400" dirty="0"/>
            </a:br>
            <a:r>
              <a:rPr sz="1400" dirty="0"/>
              <a:t>• PWA with offline service worker caching</a:t>
            </a:r>
            <a:br>
              <a:rPr sz="1400" dirty="0"/>
            </a:br>
            <a:r>
              <a:rPr sz="1400" dirty="0"/>
              <a:t>• Bulk CSV import/export for data management</a:t>
            </a:r>
            <a:br>
              <a:rPr sz="1400" dirty="0"/>
            </a:br>
            <a:r>
              <a:rPr sz="1400" dirty="0"/>
              <a:t>• Responsive design — mobile, tablet &amp; desktop</a:t>
            </a:r>
            <a:br>
              <a:rPr sz="1400" dirty="0"/>
            </a:br>
            <a:r>
              <a:rPr sz="1400" dirty="0"/>
              <a:t>• Admin analytics dashboard with Recharts visualization</a:t>
            </a:r>
            <a:br>
              <a:rPr sz="1400" dirty="0"/>
            </a:br>
            <a:r>
              <a:rPr sz="1400" dirty="0"/>
              <a:t>• Socket.IO real-time notifications &amp; chat</a:t>
            </a:r>
            <a:br>
              <a:rPr sz="1400" dirty="0"/>
            </a:br>
            <a:r>
              <a:rPr sz="1400" dirty="0"/>
              <a:t>• Geo-fencing &amp; heat map visualization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017520"/>
            <a:ext cx="5029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002B5E"/>
                </a:solidFill>
                <a:latin typeface="Calibri"/>
              </a:defRPr>
            </a:pPr>
            <a:r>
              <a:t>🏆 Key Achievements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383280"/>
            <a:ext cx="5029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🚀  Deployed on Render Cloud with Docker containerization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886200"/>
            <a:ext cx="5029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🔒  Enterprise-grade security (Helmet, Rate Limit, XSS sanitization)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389120"/>
            <a:ext cx="5029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♿  WCAG AA accessibility compliance verified with axe-core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901872"/>
            <a:ext cx="5029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📱  PWA installable on mobile &amp; desktop devices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5394960"/>
            <a:ext cx="5029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🔄  GitHub Actions CI/CD for automated testing &amp; deployment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0" y="5669280"/>
            <a:ext cx="5029200" cy="731520"/>
          </a:xfrm>
          <a:prstGeom prst="roundRect">
            <a:avLst/>
          </a:prstGeom>
          <a:solidFill>
            <a:srgbClr val="00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766560" y="5715000"/>
            <a:ext cx="4572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ℹ️  GitHub Repository  |  Live Demo: render.com  |  Automated CI/CD Pipeline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4A90D9"/>
                </a:solidFill>
                <a:latin typeface="Calibri"/>
              </a:defRPr>
            </a:pPr>
            <a:r>
              <a:t>Technical &amp; Professional Skills Acquired During Internship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002B5E"/>
                </a:solidFill>
                <a:latin typeface="Calibri"/>
              </a:defRPr>
            </a:pPr>
            <a:r>
              <a:t>💻 Technical Skills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5394960" cy="68580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D6E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36576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0">
                <a:solidFill>
                  <a:srgbClr val="000000"/>
                </a:solidFill>
                <a:latin typeface="Calibri"/>
              </a:defRPr>
            </a:pPr>
            <a:r>
              <a:t>⚛️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0070C0"/>
                </a:solidFill>
                <a:latin typeface="Calibri"/>
              </a:defRPr>
            </a:pPr>
            <a:r>
              <a:t>React.js &amp; TypeScript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50" b="0">
                <a:solidFill>
                  <a:srgbClr val="333333"/>
                </a:solidFill>
                <a:latin typeface="Calibri"/>
              </a:defRPr>
            </a:pPr>
            <a:r>
              <a:t>Component architecture, hooks, context API, React Router, lazy loading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737360"/>
            <a:ext cx="5394960" cy="68580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D6E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0" y="1783080"/>
            <a:ext cx="36576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0">
                <a:solidFill>
                  <a:srgbClr val="000000"/>
                </a:solidFill>
                <a:latin typeface="Calibri"/>
              </a:defRPr>
            </a:pPr>
            <a:r>
              <a:t>🖥️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783080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10B981"/>
                </a:solidFill>
                <a:latin typeface="Calibri"/>
              </a:defRPr>
            </a:pPr>
            <a:r>
              <a:t>Node.js &amp; Express.js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057400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50" b="0">
                <a:solidFill>
                  <a:srgbClr val="333333"/>
                </a:solidFill>
                <a:latin typeface="Calibri"/>
              </a:defRPr>
            </a:pPr>
            <a:r>
              <a:t>REST API design, middleware, error handling, async patterns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560320"/>
            <a:ext cx="5394960" cy="68580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D6E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2606040"/>
            <a:ext cx="36576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0">
                <a:solidFill>
                  <a:srgbClr val="000000"/>
                </a:solidFill>
                <a:latin typeface="Calibri"/>
              </a:defRPr>
            </a:pPr>
            <a:r>
              <a:t>🗄️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606040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F0920A"/>
                </a:solidFill>
                <a:latin typeface="Calibri"/>
              </a:defRPr>
            </a:pPr>
            <a:r>
              <a:t>MongoDB &amp; Mongoose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2880360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50" b="0">
                <a:solidFill>
                  <a:srgbClr val="333333"/>
                </a:solidFill>
                <a:latin typeface="Calibri"/>
              </a:defRPr>
            </a:pPr>
            <a:r>
              <a:t>Schema design, indexing, aggregation, GeoJSON queries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2560320"/>
            <a:ext cx="5394960" cy="68580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D6E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17920" y="2606040"/>
            <a:ext cx="36576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0">
                <a:solidFill>
                  <a:srgbClr val="000000"/>
                </a:solidFill>
                <a:latin typeface="Calibri"/>
              </a:defRPr>
            </a:pPr>
            <a:r>
              <a:t>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606040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EF4444"/>
                </a:solidFill>
                <a:latin typeface="Calibri"/>
              </a:defRPr>
            </a:pPr>
            <a:r>
              <a:t>JWT &amp; Authentication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880360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50" b="0">
                <a:solidFill>
                  <a:srgbClr val="333333"/>
                </a:solidFill>
                <a:latin typeface="Calibri"/>
              </a:defRPr>
            </a:pPr>
            <a:r>
              <a:t>Token-based auth, refresh tokens, role-based access control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383280"/>
            <a:ext cx="5394960" cy="68580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D6E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3429000"/>
            <a:ext cx="36576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0">
                <a:solidFill>
                  <a:srgbClr val="000000"/>
                </a:solidFill>
                <a:latin typeface="Calibri"/>
              </a:defRPr>
            </a:pPr>
            <a:r>
              <a:t>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429000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8B5CF6"/>
                </a:solidFill>
                <a:latin typeface="Calibri"/>
              </a:defRPr>
            </a:pPr>
            <a:r>
              <a:t>REST API Design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703320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50" b="0">
                <a:solidFill>
                  <a:srgbClr val="333333"/>
                </a:solidFill>
                <a:latin typeface="Calibri"/>
              </a:defRPr>
            </a:pPr>
            <a:r>
              <a:t>CRUD operations, request validation, response formatting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3383280"/>
            <a:ext cx="5394960" cy="68580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D6E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17920" y="3429000"/>
            <a:ext cx="36576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0">
                <a:solidFill>
                  <a:srgbClr val="000000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3429000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0EA59E"/>
                </a:solidFill>
                <a:latin typeface="Calibri"/>
              </a:defRPr>
            </a:pPr>
            <a:r>
              <a:t>Socket.IO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703320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50" b="0">
                <a:solidFill>
                  <a:srgbClr val="333333"/>
                </a:solidFill>
                <a:latin typeface="Calibri"/>
              </a:defRPr>
            </a:pPr>
            <a:r>
              <a:t>WebSocket communication, real-time events, room-based broadcasting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206240"/>
            <a:ext cx="5394960" cy="68580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D6E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4251960"/>
            <a:ext cx="36576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0">
                <a:solidFill>
                  <a:srgbClr val="000000"/>
                </a:solidFill>
                <a:latin typeface="Calibri"/>
              </a:defRPr>
            </a:pPr>
            <a:r>
              <a:t>🗺️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251960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E84D8A"/>
                </a:solidFill>
                <a:latin typeface="Calibri"/>
              </a:defRPr>
            </a:pPr>
            <a:r>
              <a:t>Leaflet.js GIS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4526280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50" b="0">
                <a:solidFill>
                  <a:srgbClr val="333333"/>
                </a:solidFill>
                <a:latin typeface="Calibri"/>
              </a:defRPr>
            </a:pPr>
            <a:r>
              <a:t>Interactive maps, markers, geo-fencing, heat map layers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26480" y="4206240"/>
            <a:ext cx="5394960" cy="68580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D6E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217920" y="4251960"/>
            <a:ext cx="36576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0">
                <a:solidFill>
                  <a:srgbClr val="000000"/>
                </a:solidFill>
                <a:latin typeface="Calibri"/>
              </a:defRPr>
            </a:pPr>
            <a:r>
              <a:t>🧪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4251960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0070C0"/>
                </a:solidFill>
                <a:latin typeface="Calibri"/>
              </a:defRPr>
            </a:pPr>
            <a:r>
              <a:t>Testing (Vitest)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4526280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50" b="0">
                <a:solidFill>
                  <a:srgbClr val="333333"/>
                </a:solidFill>
                <a:latin typeface="Calibri"/>
              </a:defRPr>
            </a:pPr>
            <a:r>
              <a:t>Unit tests, integration tests, mock functions, code coverage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0555" y="516636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002B5E"/>
                </a:solidFill>
                <a:latin typeface="Calibri"/>
              </a:defRPr>
            </a:pPr>
            <a:r>
              <a:rPr dirty="0"/>
              <a:t>🤝 Professional Skills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577840"/>
            <a:ext cx="1737360" cy="54864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57200" y="5669280"/>
            <a:ext cx="17373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Agile Methodology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377440" y="5577840"/>
            <a:ext cx="1737360" cy="5486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377440" y="5669280"/>
            <a:ext cx="17373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Git &amp; Version Control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97680" y="5577840"/>
            <a:ext cx="1737360" cy="548640"/>
          </a:xfrm>
          <a:prstGeom prst="roundRect">
            <a:avLst/>
          </a:prstGeom>
          <a:solidFill>
            <a:srgbClr val="F09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297680" y="5669280"/>
            <a:ext cx="17373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Team Collaboration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17920" y="5577840"/>
            <a:ext cx="1737360" cy="54864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217920" y="5669280"/>
            <a:ext cx="17373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Problem Solving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38160" y="5577840"/>
            <a:ext cx="1737360" cy="5486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138160" y="5669280"/>
            <a:ext cx="17373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Technical Communication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058400" y="5577840"/>
            <a:ext cx="1737360" cy="548640"/>
          </a:xfrm>
          <a:prstGeom prst="roundRect">
            <a:avLst/>
          </a:prstGeom>
          <a:solidFill>
            <a:srgbClr val="0EA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058400" y="5669280"/>
            <a:ext cx="17373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Time Management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Challenges &amp;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4A90D9"/>
                </a:solidFill>
                <a:latin typeface="Calibri"/>
              </a:defRPr>
            </a:pPr>
            <a:r>
              <a:t>Technical Hurdles Overcome During Development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9496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FA"/>
            </a:solidFill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4864" cy="14630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rgbClr val="0070C0"/>
          </a:solidFill>
          <a:ln>
            <a:noFill/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>
                <a:solidFill>
                  <a:srgbClr val="FFFFFF"/>
                </a:solidFill>
                <a:latin typeface="Segoe UI Emoji"/>
              </a:defRPr>
            </a:pPr>
            <a:r>
              <a:t>🗄️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50876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0070C0"/>
                </a:solidFill>
                <a:latin typeface="Calibri"/>
              </a:defRPr>
            </a:pPr>
            <a:r>
              <a:t>Database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5740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50" b="0">
                <a:solidFill>
                  <a:srgbClr val="EF4444"/>
                </a:solidFill>
                <a:latin typeface="Calibri"/>
              </a:defRPr>
            </a:pPr>
            <a:r>
              <a:t>⚠️ Challenge: Designing an efficient MongoDB schema for complex relationships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2316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50" b="0">
                <a:solidFill>
                  <a:srgbClr val="10B981"/>
                </a:solidFill>
                <a:latin typeface="Calibri"/>
              </a:defRPr>
            </a:pPr>
            <a:r>
              <a:t>✅ Solution: Implemented data referencing with Mongoose population and compound indexes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371600"/>
            <a:ext cx="539496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FA"/>
            </a:solidFill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26480" y="1371600"/>
            <a:ext cx="54864" cy="1463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309360" y="150876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15087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>
                <a:solidFill>
                  <a:srgbClr val="FFFFFF"/>
                </a:solidFill>
                <a:latin typeface="Segoe UI Emoji"/>
              </a:defRPr>
            </a:pPr>
            <a:r>
              <a:t>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50876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Authentication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05740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50" b="0">
                <a:solidFill>
                  <a:srgbClr val="EF4444"/>
                </a:solidFill>
                <a:latin typeface="Calibri"/>
              </a:defRPr>
            </a:pPr>
            <a:r>
              <a:t>⚠️ Challenge: Implementing secure JWT auth with role-based access for 5 user types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42316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50" b="0">
                <a:solidFill>
                  <a:srgbClr val="10B981"/>
                </a:solidFill>
                <a:latin typeface="Calibri"/>
              </a:defRPr>
            </a:pPr>
            <a:r>
              <a:t>✅ Solution: Created middleware chain with JWT verification, role checking and rate limiting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063240"/>
            <a:ext cx="539496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FA"/>
            </a:solidFill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3063240"/>
            <a:ext cx="54864" cy="1463040"/>
          </a:xfrm>
          <a:prstGeom prst="rect">
            <a:avLst/>
          </a:prstGeom>
          <a:solidFill>
            <a:srgbClr val="F09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rgbClr val="F0920A"/>
          </a:solidFill>
          <a:ln>
            <a:noFill/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320040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>
                <a:solidFill>
                  <a:srgbClr val="FFFFFF"/>
                </a:solidFill>
                <a:latin typeface="Segoe UI Emoji"/>
              </a:defRPr>
            </a:pPr>
            <a:r>
              <a:t>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320040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F0920A"/>
                </a:solidFill>
                <a:latin typeface="Calibri"/>
              </a:defRPr>
            </a:pPr>
            <a:r>
              <a:t>Real-Time Sync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74904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50" b="0">
                <a:solidFill>
                  <a:srgbClr val="EF4444"/>
                </a:solidFill>
                <a:latin typeface="Calibri"/>
              </a:defRPr>
            </a:pPr>
            <a:r>
              <a:t>⚠️ Challenge: Maintaining real-time data consistency across multiple clients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11480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50" b="0">
                <a:solidFill>
                  <a:srgbClr val="10B981"/>
                </a:solidFill>
                <a:latin typeface="Calibri"/>
              </a:defRPr>
            </a:pPr>
            <a:r>
              <a:t>✅ Solution: Used Socket.IO rooms for targeted broadcasting with event acknowledgment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3063240"/>
            <a:ext cx="539496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FA"/>
            </a:solidFill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126480" y="3063240"/>
            <a:ext cx="54864" cy="1463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309360" y="3200400"/>
            <a:ext cx="457200" cy="457200"/>
          </a:xfrm>
          <a:prstGeom prst="ellipse">
            <a:avLst/>
          </a:prstGeom>
          <a:solidFill>
            <a:srgbClr val="EF4444"/>
          </a:solidFill>
          <a:ln>
            <a:noFill/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9360" y="320040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>
                <a:solidFill>
                  <a:srgbClr val="FFFFFF"/>
                </a:solidFill>
                <a:latin typeface="Segoe UI Emoji"/>
              </a:defRPr>
            </a:pPr>
            <a:r>
              <a:t>🗺️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320040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EF4444"/>
                </a:solidFill>
                <a:latin typeface="Calibri"/>
              </a:defRPr>
            </a:pPr>
            <a:r>
              <a:t>Geo-Spatial Queries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374904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50" b="0">
                <a:solidFill>
                  <a:srgbClr val="EF4444"/>
                </a:solidFill>
                <a:latin typeface="Calibri"/>
              </a:defRPr>
            </a:pPr>
            <a:r>
              <a:t>⚠️ Challenge: Implementing efficient location-based queries for nearby resources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411480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50" b="0">
                <a:solidFill>
                  <a:srgbClr val="10B981"/>
                </a:solidFill>
                <a:latin typeface="Calibri"/>
              </a:defRPr>
            </a:pPr>
            <a:r>
              <a:t>✅ Solution: Leveraged MongoDB 2dsphere indexes with $nearSphere and $geoWithin operators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754880"/>
            <a:ext cx="539496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FA"/>
            </a:solidFill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57200" y="4754880"/>
            <a:ext cx="54864" cy="14630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640080" y="4892040"/>
            <a:ext cx="457200" cy="457200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" y="489204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>
                <a:solidFill>
                  <a:srgbClr val="FFFFFF"/>
                </a:solidFill>
                <a:latin typeface="Segoe UI Emoji"/>
              </a:defRPr>
            </a:pPr>
            <a:r>
              <a:t>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8720" y="489204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8B5CF6"/>
                </a:solidFill>
                <a:latin typeface="Calibri"/>
              </a:defRPr>
            </a:pPr>
            <a:r>
              <a:t>Deployment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544068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50" b="0">
                <a:solidFill>
                  <a:srgbClr val="EF4444"/>
                </a:solidFill>
                <a:latin typeface="Calibri"/>
              </a:defRPr>
            </a:pPr>
            <a:r>
              <a:t>⚠️ Challenge: Overcoming CORS, environment config &amp; production optimization issues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80644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50" b="0">
                <a:solidFill>
                  <a:srgbClr val="10B981"/>
                </a:solidFill>
                <a:latin typeface="Calibri"/>
              </a:defRPr>
            </a:pPr>
            <a:r>
              <a:t>✅ Solution: Configured Nginx reverse proxy, Docker multi-stage builds &amp; env variable management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26480" y="4754880"/>
            <a:ext cx="539496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FA"/>
            </a:solidFill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126480" y="4754880"/>
            <a:ext cx="54864" cy="1463040"/>
          </a:xfrm>
          <a:prstGeom prst="rect">
            <a:avLst/>
          </a:prstGeom>
          <a:solidFill>
            <a:srgbClr val="0EA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6309360" y="4892040"/>
            <a:ext cx="457200" cy="457200"/>
          </a:xfrm>
          <a:prstGeom prst="ellipse">
            <a:avLst/>
          </a:prstGeom>
          <a:solidFill>
            <a:srgbClr val="0EA59E"/>
          </a:solidFill>
          <a:ln>
            <a:noFill/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309360" y="489204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>
                <a:solidFill>
                  <a:srgbClr val="FFFFFF"/>
                </a:solidFill>
                <a:latin typeface="Segoe UI Emoji"/>
              </a:defRPr>
            </a:pPr>
            <a:r>
              <a:t>🐛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489204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0EA59E"/>
                </a:solidFill>
                <a:latin typeface="Calibri"/>
              </a:defRPr>
            </a:pPr>
            <a:r>
              <a:t>Bug Fixing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9360" y="544068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50" b="0">
                <a:solidFill>
                  <a:srgbClr val="EF4444"/>
                </a:solidFill>
                <a:latin typeface="Calibri"/>
              </a:defRPr>
            </a:pPr>
            <a:r>
              <a:t>⚠️ Challenge: Debugging complex async operations and WebSocket connection issues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9360" y="580644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50" b="0">
                <a:solidFill>
                  <a:srgbClr val="10B981"/>
                </a:solidFill>
                <a:latin typeface="Calibri"/>
              </a:defRPr>
            </a:pPr>
            <a:r>
              <a:t>✅ Solution: Implemented structured logging with Winston, error boundaries &amp; comprehensive error handling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4A90D9"/>
                </a:solidFill>
                <a:latin typeface="Calibri"/>
              </a:defRPr>
            </a:pPr>
            <a:r>
              <a:t>Enhancements &amp; Roadmap for Next Iterations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5661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FA"/>
            </a:solidFill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566160" cy="7315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874520" y="1554480"/>
            <a:ext cx="640080" cy="640080"/>
          </a:xfrm>
          <a:prstGeom prst="ellipse">
            <a:avLst/>
          </a:prstGeom>
          <a:solidFill>
            <a:srgbClr val="0070C0"/>
          </a:solidFill>
          <a:ln>
            <a:noFill/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74520" y="155448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solidFill>
                  <a:srgbClr val="FFFFFF"/>
                </a:solidFill>
                <a:latin typeface="Segoe UI Emoji"/>
              </a:defRPr>
            </a:pPr>
            <a:r>
              <a:t>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0070C0"/>
                </a:solidFill>
                <a:latin typeface="Calibri"/>
              </a:defRPr>
            </a:pPr>
            <a:r>
              <a:t>AI 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06040"/>
            <a:ext cx="3200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ML models for disaster</a:t>
            </a:r>
            <a:br/>
            <a:r>
              <a:t>impact prediction &amp;</a:t>
            </a:r>
            <a:br/>
            <a:r>
              <a:t>resource optimization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54480" y="3246119"/>
            <a:ext cx="1371600" cy="2743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54480" y="3264407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Priority: High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1371600"/>
            <a:ext cx="35661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FA"/>
            </a:solidFill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51960" y="1371600"/>
            <a:ext cx="356616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669280" y="155448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69280" y="155448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solidFill>
                  <a:srgbClr val="FFFFFF"/>
                </a:solidFill>
                <a:latin typeface="Segoe UI Emoji"/>
              </a:defRPr>
            </a:pPr>
            <a:r>
              <a:t>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286000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10B981"/>
                </a:solidFill>
                <a:latin typeface="Calibri"/>
              </a:defRPr>
            </a:pPr>
            <a:r>
              <a:t>IoT Sensors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606040"/>
            <a:ext cx="3200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Real-time sensor data</a:t>
            </a:r>
            <a:br/>
            <a:r>
              <a:t>for early warning &amp;</a:t>
            </a:r>
            <a:br/>
            <a:r>
              <a:t>environment monitoring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49240" y="3246119"/>
            <a:ext cx="1371600" cy="2743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49240" y="3264407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Priority: High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1371600"/>
            <a:ext cx="35661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FA"/>
            </a:solidFill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46720" y="1371600"/>
            <a:ext cx="3566160" cy="73152"/>
          </a:xfrm>
          <a:prstGeom prst="rect">
            <a:avLst/>
          </a:prstGeom>
          <a:solidFill>
            <a:srgbClr val="F09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464040" y="1554480"/>
            <a:ext cx="640080" cy="640080"/>
          </a:xfrm>
          <a:prstGeom prst="ellipse">
            <a:avLst/>
          </a:prstGeom>
          <a:solidFill>
            <a:srgbClr val="F0920A"/>
          </a:solidFill>
          <a:ln>
            <a:noFill/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64040" y="155448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solidFill>
                  <a:srgbClr val="FFFFFF"/>
                </a:solidFill>
                <a:latin typeface="Segoe UI Emoji"/>
              </a:defRPr>
            </a:pPr>
            <a:r>
              <a:t>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286000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F0920A"/>
                </a:solidFill>
                <a:latin typeface="Calibri"/>
              </a:defRPr>
            </a:pPr>
            <a:r>
              <a:t>Drone Imaging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2606040"/>
            <a:ext cx="3200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Aerial damage assessment</a:t>
            </a:r>
            <a:br/>
            <a:r>
              <a:t>&amp; real-time drone</a:t>
            </a:r>
            <a:br/>
            <a:r>
              <a:t>feed integration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0" y="3246119"/>
            <a:ext cx="1371600" cy="274320"/>
          </a:xfrm>
          <a:prstGeom prst="roundRect">
            <a:avLst/>
          </a:prstGeom>
          <a:solidFill>
            <a:srgbClr val="F09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44000" y="3264407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Priority: Medium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977640"/>
            <a:ext cx="35661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FA"/>
            </a:solidFill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57200" y="3977640"/>
            <a:ext cx="356616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874520" y="4160520"/>
            <a:ext cx="640080" cy="640080"/>
          </a:xfrm>
          <a:prstGeom prst="ellipse">
            <a:avLst/>
          </a:prstGeom>
          <a:solidFill>
            <a:srgbClr val="EF4444"/>
          </a:solidFill>
          <a:ln>
            <a:noFill/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874520" y="416052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solidFill>
                  <a:srgbClr val="FFFFFF"/>
                </a:solidFill>
                <a:latin typeface="Segoe UI Emoji"/>
              </a:defRPr>
            </a:pPr>
            <a:r>
              <a:t>🛰️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4892040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EF4444"/>
                </a:solidFill>
                <a:latin typeface="Calibri"/>
              </a:defRPr>
            </a:pPr>
            <a:r>
              <a:t>Satellite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212080"/>
            <a:ext cx="3200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Satellite imagery for</a:t>
            </a:r>
            <a:br/>
            <a:r>
              <a:t>large-scale disaster</a:t>
            </a:r>
            <a:br/>
            <a:r>
              <a:t>zone mapping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554480" y="5852159"/>
            <a:ext cx="1371600" cy="274320"/>
          </a:xfrm>
          <a:prstGeom prst="roundRect">
            <a:avLst/>
          </a:prstGeom>
          <a:solidFill>
            <a:srgbClr val="F09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554480" y="5870447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Priority: Medium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51960" y="3977640"/>
            <a:ext cx="35661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FA"/>
            </a:solidFill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251960" y="3977640"/>
            <a:ext cx="356616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5669280" y="4160520"/>
            <a:ext cx="640080" cy="640080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669280" y="416052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solidFill>
                  <a:srgbClr val="FFFFFF"/>
                </a:solidFill>
                <a:latin typeface="Segoe UI Emoji"/>
              </a:defRPr>
            </a:pPr>
            <a:r>
              <a:t>📱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34840" y="4892040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8B5CF6"/>
                </a:solidFill>
                <a:latin typeface="Calibri"/>
              </a:defRPr>
            </a:pPr>
            <a:r>
              <a:t>Android App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34840" y="5212080"/>
            <a:ext cx="3200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Native mobile app with</a:t>
            </a:r>
            <a:br/>
            <a:r>
              <a:t>offline support &amp;</a:t>
            </a:r>
            <a:br/>
            <a:r>
              <a:t>GPS-based reporting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349240" y="5852159"/>
            <a:ext cx="1371600" cy="2743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349240" y="5870447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Priority: High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46720" y="3977640"/>
            <a:ext cx="35661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FA"/>
            </a:solidFill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046720" y="3977640"/>
            <a:ext cx="3566160" cy="73152"/>
          </a:xfrm>
          <a:prstGeom prst="rect">
            <a:avLst/>
          </a:prstGeom>
          <a:solidFill>
            <a:srgbClr val="0EA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9464040" y="4160520"/>
            <a:ext cx="640080" cy="640080"/>
          </a:xfrm>
          <a:prstGeom prst="ellipse">
            <a:avLst/>
          </a:prstGeom>
          <a:solidFill>
            <a:srgbClr val="0EA59E"/>
          </a:solidFill>
          <a:ln>
            <a:noFill/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464040" y="416052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solidFill>
                  <a:srgbClr val="FFFFFF"/>
                </a:solidFill>
                <a:latin typeface="Segoe UI Emoji"/>
              </a:defRPr>
            </a:pPr>
            <a:r>
              <a:t>🧠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0" y="4892040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0EA59E"/>
                </a:solidFill>
                <a:latin typeface="Calibri"/>
              </a:defRPr>
            </a:pPr>
            <a:r>
              <a:t>ML Analytics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0" y="5212080"/>
            <a:ext cx="3200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Predictive analytics for</a:t>
            </a:r>
            <a:br/>
            <a:r>
              <a:t>resource demand &amp;</a:t>
            </a:r>
            <a:br/>
            <a:r>
              <a:t>volunteer allocation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144000" y="5852159"/>
            <a:ext cx="1371600" cy="274320"/>
          </a:xfrm>
          <a:prstGeom prst="roundRect">
            <a:avLst/>
          </a:prstGeom>
          <a:solidFill>
            <a:srgbClr val="F09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144000" y="5870447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Priority: Medium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0" y="6295644"/>
            <a:ext cx="12192000" cy="548640"/>
          </a:xfrm>
          <a:prstGeom prst="roundRect">
            <a:avLst/>
          </a:prstGeom>
          <a:solidFill>
            <a:srgbClr val="00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57200" y="6462792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🎯  Next Steps: Complete Android App Development → Integrate AI/ML Models → Deploy IoT Sensor Network → Satellite Integration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832" y="9832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4A90D9"/>
                </a:solidFill>
                <a:latin typeface="Calibri"/>
              </a:defRPr>
            </a:pPr>
            <a:r>
              <a:t>Summary, Impact &amp; Internship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002B5E"/>
                </a:solidFill>
                <a:latin typeface="Calibri"/>
              </a:defRPr>
            </a:pPr>
            <a:r>
              <a:t>📋 Project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566928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rPr sz="1400" dirty="0"/>
              <a:t>The Disaster Relief Coordination Platform was successfully designed, developed, and deployed as a comprehensive full-stack web application. The platform addresses critical gaps in disaster response coordination by providing real-time communication, resource tracking, volunteer management, incident reporting, SOS alerts, and interactive mapping capabilities — all within a secure, scalable, and user-friendly interface.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03898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002B5E"/>
                </a:solidFill>
                <a:latin typeface="Calibri"/>
              </a:defRPr>
            </a:pPr>
            <a:r>
              <a:rPr dirty="0"/>
              <a:t>🎯 Project 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251960"/>
            <a:ext cx="566928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rPr sz="1400" dirty="0"/>
              <a:t>• Reduced coordination response time through real-time alerts</a:t>
            </a:r>
            <a:br>
              <a:rPr sz="1400" dirty="0"/>
            </a:br>
            <a:r>
              <a:rPr sz="1400" dirty="0"/>
              <a:t>• Centralized resource allocation minimizing wastage</a:t>
            </a:r>
            <a:br>
              <a:rPr sz="1400" dirty="0"/>
            </a:br>
            <a:r>
              <a:rPr sz="1400" dirty="0"/>
              <a:t>• Multi-lingual support making it accessible across India</a:t>
            </a:r>
            <a:br>
              <a:rPr sz="1400" dirty="0"/>
            </a:br>
            <a:r>
              <a:rPr sz="1400" dirty="0"/>
              <a:t>• PWA capabilities ensuring offline functionality</a:t>
            </a:r>
            <a:br>
              <a:rPr sz="1400" dirty="0"/>
            </a:br>
            <a:r>
              <a:rPr sz="1400" dirty="0"/>
              <a:t>• Secure role-based access for all stakeholders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371600"/>
            <a:ext cx="5029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002B5E"/>
                </a:solidFill>
                <a:latin typeface="Calibri"/>
              </a:defRPr>
            </a:pPr>
            <a:r>
              <a:t>🌟 Internship Experience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737360"/>
            <a:ext cx="5029200" cy="123444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D6E8FA"/>
            </a:solidFill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720840" y="1874520"/>
            <a:ext cx="457200" cy="457200"/>
          </a:xfrm>
          <a:prstGeom prst="ellipse">
            <a:avLst/>
          </a:prstGeom>
          <a:solidFill>
            <a:srgbClr val="0070C0"/>
          </a:solidFill>
          <a:ln>
            <a:noFill/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20840" y="187452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>
                <a:solidFill>
                  <a:srgbClr val="FFFFFF"/>
                </a:solidFill>
                <a:latin typeface="Segoe UI Emoji"/>
              </a:defRPr>
            </a:pPr>
            <a:r>
              <a:t>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1874520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0070C0"/>
                </a:solidFill>
                <a:latin typeface="Calibri"/>
              </a:defRPr>
            </a:pPr>
            <a:r>
              <a:t>Industrial 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377440"/>
            <a:ext cx="47548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Gained hands-on experience</a:t>
            </a:r>
            <a:br/>
            <a:r>
              <a:t>in a professional software</a:t>
            </a:r>
            <a:br/>
            <a:r>
              <a:t>development environment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3154680"/>
            <a:ext cx="5029200" cy="123444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D6E8FA"/>
            </a:solidFill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720840" y="329184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20840" y="329184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>
                <a:solidFill>
                  <a:srgbClr val="FFFFFF"/>
                </a:solidFill>
                <a:latin typeface="Segoe UI Emoji"/>
              </a:defRPr>
            </a:pPr>
            <a:r>
              <a:t>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3291840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Career Growth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3794760"/>
            <a:ext cx="47548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Built a strong portfolio</a:t>
            </a:r>
            <a:br/>
            <a:r>
              <a:t>project demonstrating</a:t>
            </a:r>
            <a:br/>
            <a:r>
              <a:t>full-stack expertise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4572000"/>
            <a:ext cx="5029200" cy="123444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D6E8FA"/>
            </a:solidFill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720840" y="4709160"/>
            <a:ext cx="457200" cy="457200"/>
          </a:xfrm>
          <a:prstGeom prst="ellipse">
            <a:avLst/>
          </a:prstGeom>
          <a:solidFill>
            <a:srgbClr val="F0920A"/>
          </a:solidFill>
          <a:ln>
            <a:noFill/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20840" y="47091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>
                <a:solidFill>
                  <a:srgbClr val="FFFFFF"/>
                </a:solidFill>
                <a:latin typeface="Segoe UI Emoji"/>
              </a:defRPr>
            </a:pPr>
            <a:r>
              <a:t>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4709160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F0920A"/>
                </a:solidFill>
                <a:latin typeface="Calibri"/>
              </a:defRPr>
            </a:pPr>
            <a:r>
              <a:t>Professional Dev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5212080"/>
            <a:ext cx="47548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Improved communication,</a:t>
            </a:r>
            <a:br/>
            <a:r>
              <a:t>collaboration &amp; problem-</a:t>
            </a:r>
            <a:br/>
            <a:r>
              <a:t>solving skills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" y="5989320"/>
            <a:ext cx="12211358" cy="914400"/>
          </a:xfrm>
          <a:prstGeom prst="roundRect">
            <a:avLst/>
          </a:prstGeom>
          <a:solidFill>
            <a:srgbClr val="00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4360" y="6286500"/>
            <a:ext cx="109728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 i="1">
                <a:solidFill>
                  <a:srgbClr val="FFFFFF"/>
                </a:solidFill>
                <a:latin typeface="Calibri"/>
              </a:defRPr>
            </a:pPr>
            <a:r>
              <a:t>"An enriching internship that transformed academic knowledge into practical expertise — building a real-world application that can save lives during disasters."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Acknowledgement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4A90D9"/>
                </a:solidFill>
                <a:latin typeface="Calibri"/>
              </a:defRPr>
            </a:pPr>
            <a:r>
              <a:t>Gratitude &amp; Appreciation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200" b="1">
                <a:solidFill>
                  <a:srgbClr val="002B5E"/>
                </a:solidFill>
                <a:latin typeface="Calibri"/>
              </a:defRPr>
            </a:pPr>
            <a:r>
              <a:t>🙏  Thank You!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333333"/>
                </a:solidFill>
                <a:latin typeface="Calibri"/>
              </a:defRPr>
            </a:pPr>
            <a:r>
              <a:t>I would like to express my sincere gratitude to everyone who supported me during this internship journey.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68880"/>
            <a:ext cx="3566160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FA"/>
            </a:solidFill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2468880"/>
            <a:ext cx="3566160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874520" y="2606040"/>
            <a:ext cx="548640" cy="548640"/>
          </a:xfrm>
          <a:prstGeom prst="ellipse">
            <a:avLst/>
          </a:prstGeom>
          <a:solidFill>
            <a:srgbClr val="0070C0"/>
          </a:solidFill>
          <a:ln>
            <a:noFill/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874520" y="260604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>
                <a:solidFill>
                  <a:srgbClr val="FFFFFF"/>
                </a:solidFill>
                <a:latin typeface="Segoe UI Emoji"/>
              </a:defRPr>
            </a:pPr>
            <a:r>
              <a:t>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46120"/>
            <a:ext cx="3200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1">
                <a:solidFill>
                  <a:srgbClr val="0070C0"/>
                </a:solidFill>
                <a:latin typeface="Calibri"/>
              </a:defRPr>
            </a:pPr>
            <a:r>
              <a:t>Metanoia Solutions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520440"/>
            <a:ext cx="32004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50" b="0">
                <a:solidFill>
                  <a:srgbClr val="333333"/>
                </a:solidFill>
                <a:latin typeface="Calibri"/>
              </a:defRPr>
            </a:pPr>
            <a:r>
              <a:t>For providing the opportunity</a:t>
            </a:r>
            <a:br/>
            <a:r>
              <a:t>and professional environment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2468880"/>
            <a:ext cx="3566160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FA"/>
            </a:solidFill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51960" y="2468880"/>
            <a:ext cx="35661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669280" y="260604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69280" y="260604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>
                <a:solidFill>
                  <a:srgbClr val="FFFFFF"/>
                </a:solidFill>
                <a:latin typeface="Segoe UI Emoji"/>
              </a:defRPr>
            </a:pPr>
            <a:r>
              <a:t>👨‍🏫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246120"/>
            <a:ext cx="3200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1">
                <a:solidFill>
                  <a:srgbClr val="10B981"/>
                </a:solidFill>
                <a:latin typeface="Calibri"/>
              </a:defRPr>
            </a:pPr>
            <a:r>
              <a:t>Nehal Patel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3520440"/>
            <a:ext cx="32004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50" b="0">
                <a:solidFill>
                  <a:srgbClr val="333333"/>
                </a:solidFill>
                <a:latin typeface="Calibri"/>
              </a:defRPr>
            </a:pPr>
            <a:r>
              <a:t>Industry Mentor — for invaluable</a:t>
            </a:r>
            <a:br/>
            <a:r>
              <a:t>guidance and support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2468880"/>
            <a:ext cx="3566160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FA"/>
            </a:solidFill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46720" y="2468880"/>
            <a:ext cx="3566160" cy="54864"/>
          </a:xfrm>
          <a:prstGeom prst="rect">
            <a:avLst/>
          </a:prstGeom>
          <a:solidFill>
            <a:srgbClr val="F09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464040" y="2606040"/>
            <a:ext cx="548640" cy="548640"/>
          </a:xfrm>
          <a:prstGeom prst="ellipse">
            <a:avLst/>
          </a:prstGeom>
          <a:solidFill>
            <a:srgbClr val="F0920A"/>
          </a:solidFill>
          <a:ln>
            <a:noFill/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464040" y="260604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>
                <a:solidFill>
                  <a:srgbClr val="FFFFFF"/>
                </a:solidFill>
                <a:latin typeface="Segoe UI Emoji"/>
              </a:defRPr>
            </a:pPr>
            <a:r>
              <a:t>🏛️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246120"/>
            <a:ext cx="3200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1">
                <a:solidFill>
                  <a:srgbClr val="F0920A"/>
                </a:solidFill>
                <a:latin typeface="Calibri"/>
              </a:defRPr>
            </a:pPr>
            <a:r>
              <a:t>College Faculty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520440"/>
            <a:ext cx="32004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50" b="0">
                <a:solidFill>
                  <a:srgbClr val="333333"/>
                </a:solidFill>
                <a:latin typeface="Calibri"/>
              </a:defRPr>
            </a:pPr>
            <a:r>
              <a:t>For academic support and</a:t>
            </a:r>
            <a:br/>
            <a:r>
              <a:t>continuous encouragement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389120"/>
            <a:ext cx="3566160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FA"/>
            </a:solidFill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4389120"/>
            <a:ext cx="356616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874520" y="4526280"/>
            <a:ext cx="548640" cy="548640"/>
          </a:xfrm>
          <a:prstGeom prst="ellipse">
            <a:avLst/>
          </a:prstGeom>
          <a:solidFill>
            <a:srgbClr val="EF4444"/>
          </a:solidFill>
          <a:ln>
            <a:noFill/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874520" y="452628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>
                <a:solidFill>
                  <a:srgbClr val="FFFFFF"/>
                </a:solidFill>
                <a:latin typeface="Segoe UI Emoji"/>
              </a:defRPr>
            </a:pPr>
            <a:r>
              <a:t>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166360"/>
            <a:ext cx="3200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1">
                <a:solidFill>
                  <a:srgbClr val="EF4444"/>
                </a:solidFill>
                <a:latin typeface="Calibri"/>
              </a:defRPr>
            </a:pPr>
            <a:r>
              <a:t>GTU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440680"/>
            <a:ext cx="32004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50" b="0">
                <a:solidFill>
                  <a:srgbClr val="333333"/>
                </a:solidFill>
                <a:latin typeface="Calibri"/>
              </a:defRPr>
            </a:pPr>
            <a:r>
              <a:t>For incorporating internship</a:t>
            </a:r>
            <a:br/>
            <a:r>
              <a:t>in the curriculum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51960" y="4389120"/>
            <a:ext cx="3566160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8FA"/>
            </a:solidFill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251960" y="4389120"/>
            <a:ext cx="356616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5669280" y="4526280"/>
            <a:ext cx="548640" cy="548640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669280" y="452628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>
                <a:solidFill>
                  <a:srgbClr val="FFFFFF"/>
                </a:solidFill>
                <a:latin typeface="Segoe UI Emoji"/>
              </a:defRPr>
            </a:pPr>
            <a:r>
              <a:t>👨‍👩‍👧‍👦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40" y="5166360"/>
            <a:ext cx="3200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1">
                <a:solidFill>
                  <a:srgbClr val="8B5CF6"/>
                </a:solidFill>
                <a:latin typeface="Calibri"/>
              </a:defRPr>
            </a:pPr>
            <a:r>
              <a:t>Family &amp; Friends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34840" y="5440680"/>
            <a:ext cx="32004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50" b="0">
                <a:solidFill>
                  <a:srgbClr val="333333"/>
                </a:solidFill>
                <a:latin typeface="Calibri"/>
              </a:defRPr>
            </a:pPr>
            <a:r>
              <a:t>For unwavering support</a:t>
            </a:r>
            <a:br/>
            <a:r>
              <a:t>and motivation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0048" y="9832"/>
            <a:ext cx="12191695" cy="6858000"/>
          </a:xfrm>
          <a:prstGeom prst="rect">
            <a:avLst/>
          </a:prstGeom>
          <a:solidFill>
            <a:srgbClr val="00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1247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0">
                <a:solidFill>
                  <a:srgbClr val="4A90D9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2377440"/>
            <a:ext cx="2103120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103327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0" i="1">
                <a:solidFill>
                  <a:srgbClr val="BBCCEE"/>
                </a:solidFill>
                <a:latin typeface="Calibri"/>
              </a:defRPr>
            </a:pPr>
            <a:r>
              <a:rPr dirty="0"/>
              <a:t>"Technology is best when it brings people together." — Matt Mullenweg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3657600"/>
            <a:ext cx="2286000" cy="1371600"/>
          </a:xfrm>
          <a:prstGeom prst="roundRect">
            <a:avLst/>
          </a:prstGeom>
          <a:solidFill>
            <a:srgbClr val="00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240280" y="3794760"/>
            <a:ext cx="502920" cy="502920"/>
          </a:xfrm>
          <a:prstGeom prst="ellipse">
            <a:avLst/>
          </a:prstGeom>
          <a:solidFill>
            <a:srgbClr val="0070C0"/>
          </a:solidFill>
          <a:ln>
            <a:noFill/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240280" y="37947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Segoe UI Emoji"/>
              </a:defRPr>
            </a:pPr>
            <a:r>
              <a:rPr dirty="0"/>
              <a:t>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343400"/>
            <a:ext cx="2286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4A90D9"/>
                </a:solidFill>
                <a:latin typeface="Calibri"/>
              </a:defRPr>
            </a:pPr>
            <a:r>
              <a:t>Presented by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52628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rPr dirty="0"/>
              <a:t>Ansh Patel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31920" y="3657600"/>
            <a:ext cx="2286000" cy="1371600"/>
          </a:xfrm>
          <a:prstGeom prst="roundRect">
            <a:avLst/>
          </a:prstGeom>
          <a:solidFill>
            <a:srgbClr val="00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800600" y="379476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00600" y="37947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Segoe UI Emoji"/>
              </a:defRPr>
            </a:pPr>
            <a:r>
              <a:t>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4343400"/>
            <a:ext cx="2286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4A90D9"/>
                </a:solidFill>
                <a:latin typeface="Calibri"/>
              </a:defRPr>
            </a:pPr>
            <a:r>
              <a:t>Email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452628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rPr dirty="0"/>
              <a:t>anshp</a:t>
            </a:r>
            <a:r>
              <a:rPr lang="en-US" dirty="0"/>
              <a:t>5388</a:t>
            </a:r>
            <a:r>
              <a:rPr dirty="0"/>
              <a:t>@</a:t>
            </a:r>
            <a:r>
              <a:rPr lang="en-US" dirty="0"/>
              <a:t>g</a:t>
            </a:r>
            <a:r>
              <a:rPr dirty="0"/>
              <a:t>mail.com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3657600"/>
            <a:ext cx="2286000" cy="1371600"/>
          </a:xfrm>
          <a:prstGeom prst="roundRect">
            <a:avLst/>
          </a:prstGeom>
          <a:solidFill>
            <a:srgbClr val="00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360920" y="3794760"/>
            <a:ext cx="502920" cy="502920"/>
          </a:xfrm>
          <a:prstGeom prst="ellipse">
            <a:avLst/>
          </a:prstGeom>
          <a:solidFill>
            <a:srgbClr val="F0920A"/>
          </a:solidFill>
          <a:ln>
            <a:noFill/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60920" y="37947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Segoe UI Emoji"/>
              </a:defRPr>
            </a:pPr>
            <a:r>
              <a:t>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343400"/>
            <a:ext cx="2286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4A90D9"/>
                </a:solidFill>
                <a:latin typeface="Calibri"/>
              </a:defRPr>
            </a:pPr>
            <a:r>
              <a:t>LinkedIn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52628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rPr lang="en-US" sz="900" b="1" dirty="0">
                <a:hlinkClick r:id="rId3"/>
              </a:rPr>
              <a:t>linkedin.com/in/ansh-patel-95a161304</a:t>
            </a:r>
            <a:endParaRPr dirty="0"/>
          </a:p>
        </p:txBody>
      </p:sp>
      <p:sp>
        <p:nvSpPr>
          <p:cNvPr id="24" name="Rounded Rectangle 23"/>
          <p:cNvSpPr/>
          <p:nvPr/>
        </p:nvSpPr>
        <p:spPr>
          <a:xfrm>
            <a:off x="9052560" y="3657600"/>
            <a:ext cx="2286000" cy="1371600"/>
          </a:xfrm>
          <a:prstGeom prst="roundRect">
            <a:avLst/>
          </a:prstGeom>
          <a:solidFill>
            <a:srgbClr val="00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921240" y="3794760"/>
            <a:ext cx="502920" cy="502920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40000" dist="200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921240" y="37947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Segoe UI Emoji"/>
              </a:defRPr>
            </a:pPr>
            <a:r>
              <a:t>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4343400"/>
            <a:ext cx="2286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4A90D9"/>
                </a:solidFill>
                <a:latin typeface="Calibri"/>
              </a:defRPr>
            </a:pPr>
            <a:r>
              <a:t>GitHub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452628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github.com/Anshp2910</a:t>
            </a:r>
            <a:endParaRPr dirty="0"/>
          </a:p>
        </p:txBody>
      </p:sp>
      <p:sp>
        <p:nvSpPr>
          <p:cNvPr id="29" name="TextBox 28"/>
          <p:cNvSpPr txBox="1"/>
          <p:nvPr/>
        </p:nvSpPr>
        <p:spPr>
          <a:xfrm>
            <a:off x="457200" y="5486400"/>
            <a:ext cx="11247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4A90D9"/>
                </a:solidFill>
                <a:latin typeface="Calibri"/>
              </a:defRPr>
            </a:pPr>
            <a:r>
              <a:t>Internship Presentation | Metanoia Solutions | Gujarat Technological University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8899BB"/>
                </a:solidFill>
                <a:latin typeface="Calibri"/>
              </a:defRPr>
            </a:pPr>
            <a:r>
              <a:rPr dirty="0"/>
              <a:t>Disaster Relief Coordination Platform  •  </a:t>
            </a:r>
            <a:r>
              <a:rPr lang="en-US" dirty="0"/>
              <a:t>01 </a:t>
            </a:r>
            <a:r>
              <a:rPr dirty="0"/>
              <a:t>J</a:t>
            </a:r>
            <a:r>
              <a:rPr lang="en-US" dirty="0"/>
              <a:t>uly</a:t>
            </a:r>
            <a:r>
              <a:rPr dirty="0"/>
              <a:t> 2026 – </a:t>
            </a:r>
            <a:r>
              <a:rPr lang="en-US" dirty="0"/>
              <a:t>20 </a:t>
            </a:r>
            <a:r>
              <a:rPr dirty="0"/>
              <a:t>Ju</a:t>
            </a:r>
            <a:r>
              <a:rPr lang="en-US" dirty="0"/>
              <a:t>ly</a:t>
            </a:r>
            <a:r>
              <a:rPr dirty="0"/>
              <a:t>2026  •  Presented by Ansh Patel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2617</Words>
  <Application>Microsoft Office PowerPoint</Application>
  <PresentationFormat>Widescreen</PresentationFormat>
  <Paragraphs>547</Paragraphs>
  <Slides>20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ANSH S PATEL</cp:lastModifiedBy>
  <cp:revision>15</cp:revision>
  <dcterms:created xsi:type="dcterms:W3CDTF">2013-01-27T09:14:16Z</dcterms:created>
  <dcterms:modified xsi:type="dcterms:W3CDTF">2026-08-11T08:30:04Z</dcterms:modified>
  <cp:category/>
</cp:coreProperties>
</file>