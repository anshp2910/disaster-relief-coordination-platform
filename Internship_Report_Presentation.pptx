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614" autoAdjust="0"/>
  </p:normalViewPr>
  <p:slideViewPr>
    <p:cSldViewPr snapToGrid="0" snapToObjects="1">
      <p:cViewPr>
        <p:scale>
          <a:sx n="66" d="100"/>
          <a:sy n="66" d="100"/>
        </p:scale>
        <p:origin x="1301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53F9E4-7644-446B-8A08-2A4117BE7C80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32BF8B-B1D9-4572-B335-F280B1325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382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32BF8B-B1D9-4572-B335-F280B1325AB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8987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32BF8B-B1D9-4572-B335-F280B1325AB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7064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32BF8B-B1D9-4572-B335-F280B1325AB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3658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32BF8B-B1D9-4572-B335-F280B1325AB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304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990639"/>
            <a:ext cx="10515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dirty="0">
                <a:solidFill>
                  <a:srgbClr val="FFFFFF"/>
                </a:solidFill>
              </a:rPr>
              <a:t>DISASTER RELIEF
COORDINATION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76672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dirty="0">
                <a:solidFill>
                  <a:srgbClr val="3B82F6"/>
                </a:solidFill>
              </a:rPr>
              <a:t>MERN STACK WEB APP BY ANSH S PATEL (230090116005)</a:t>
            </a:r>
            <a:endParaRPr sz="1400" b="0" dirty="0">
              <a:solidFill>
                <a:srgbClr val="3B82F6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321834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D0E0F8"/>
                </a:solidFill>
              </a:rPr>
              <a:t>Real-Time Collaboration  |  GIS Mapping  |  Resource Management  |  Multi-Language Support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F353B5B-C40F-A4E8-0B79-808CC98A4366}"/>
              </a:ext>
            </a:extLst>
          </p:cNvPr>
          <p:cNvGrpSpPr/>
          <p:nvPr/>
        </p:nvGrpSpPr>
        <p:grpSpPr>
          <a:xfrm>
            <a:off x="685800" y="3998041"/>
            <a:ext cx="8869680" cy="365760"/>
            <a:chOff x="731520" y="3474720"/>
            <a:chExt cx="8869680" cy="365760"/>
          </a:xfrm>
        </p:grpSpPr>
        <p:sp>
          <p:nvSpPr>
            <p:cNvPr id="7" name="Rectangle 6"/>
            <p:cNvSpPr/>
            <p:nvPr/>
          </p:nvSpPr>
          <p:spPr>
            <a:xfrm>
              <a:off x="731520" y="3474720"/>
              <a:ext cx="2011680" cy="365760"/>
            </a:xfrm>
            <a:prstGeom prst="rect">
              <a:avLst/>
            </a:prstGeom>
            <a:solidFill>
              <a:srgbClr val="0F1B30"/>
            </a:solidFill>
            <a:ln w="12700">
              <a:solidFill>
                <a:srgbClr val="3B82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77240" y="3520439"/>
              <a:ext cx="192024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3B82F6"/>
                  </a:solidFill>
                </a:rPr>
                <a:t>Technology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017520" y="3474720"/>
              <a:ext cx="2011680" cy="365760"/>
            </a:xfrm>
            <a:prstGeom prst="rect">
              <a:avLst/>
            </a:prstGeom>
            <a:solidFill>
              <a:srgbClr val="0F1B30"/>
            </a:solidFill>
            <a:ln w="12700">
              <a:solidFill>
                <a:srgbClr val="A78B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063239" y="3520439"/>
              <a:ext cx="192024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A78BFA"/>
                  </a:solidFill>
                </a:rPr>
                <a:t>Web Dev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303520" y="3474720"/>
              <a:ext cx="2011680" cy="365760"/>
            </a:xfrm>
            <a:prstGeom prst="rect">
              <a:avLst/>
            </a:prstGeom>
            <a:solidFill>
              <a:srgbClr val="0F1B30"/>
            </a:solidFill>
            <a:ln w="12700">
              <a:solidFill>
                <a:srgbClr val="F59E0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349240" y="3520439"/>
              <a:ext cx="192024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F59E0B"/>
                  </a:solidFill>
                </a:rPr>
                <a:t>Security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589520" y="3474720"/>
              <a:ext cx="2011680" cy="365760"/>
            </a:xfrm>
            <a:prstGeom prst="rect">
              <a:avLst/>
            </a:prstGeom>
            <a:solidFill>
              <a:srgbClr val="0F1B30"/>
            </a:solidFill>
            <a:ln w="12700">
              <a:solidFill>
                <a:srgbClr val="06B6D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635240" y="3520439"/>
              <a:ext cx="192024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06B6D4"/>
                  </a:solidFill>
                </a:rPr>
                <a:t>Cloud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112088" y="6322069"/>
            <a:ext cx="228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7A93B8"/>
                </a:solidFill>
              </a:rPr>
              <a:t>Live: disasterhelper.dpdns.org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1. Domain &amp; 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6459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5303520" cy="5303520"/>
          </a:xfrm>
          <a:prstGeom prst="rect">
            <a:avLst/>
          </a:prstGeom>
          <a:solidFill>
            <a:srgbClr val="0F1B30"/>
          </a:solidFill>
          <a:ln w="1016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</a:rPr>
              <a:t>Application Domain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731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600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</a:rPr>
              <a:t>Web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600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331720"/>
            <a:ext cx="731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</a:rPr>
              <a:t>Cyber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3017520"/>
            <a:ext cx="731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2971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</a:rPr>
              <a:t>Cloud / DevOps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971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3703320"/>
            <a:ext cx="731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3657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</a:rPr>
              <a:t>GIS / Data Science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606040" y="4343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89320" y="1051560"/>
            <a:ext cx="5806440" cy="5303520"/>
          </a:xfrm>
          <a:prstGeom prst="rect">
            <a:avLst/>
          </a:prstGeom>
          <a:solidFill>
            <a:srgbClr val="0F1B30"/>
          </a:solidFill>
          <a:ln w="1016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80" y="12344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</a:rPr>
              <a:t>Technologies Used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1645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B82F6"/>
                </a:solidFill>
              </a:rPr>
              <a:t>Frontend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19202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0F8"/>
                </a:solidFill>
              </a:rPr>
              <a:t>• React 18, TypeScript, Vite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176272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0F8"/>
                </a:solidFill>
              </a:rPr>
              <a:t>• Framer Motion, Recharts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432304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0F8"/>
                </a:solidFill>
              </a:rPr>
              <a:t>• Leaflet GIS, Socket.io Client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688336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0F8"/>
                </a:solidFill>
              </a:rPr>
              <a:t>• i18next (10 languages), PWA SW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32186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A78BFA"/>
                </a:solidFill>
              </a:rPr>
              <a:t>Backend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493008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0F8"/>
                </a:solidFill>
              </a:rPr>
              <a:t>• Node.js 20, Express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7490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0F8"/>
                </a:solidFill>
              </a:rPr>
              <a:t>• MongoDB, Mongoose, JWT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4005072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0F8"/>
                </a:solidFill>
              </a:rPr>
              <a:t>• Socket.io, Socket.io auth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4261104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0F8"/>
                </a:solidFill>
              </a:rPr>
              <a:t>• Joi validation, Multer, Passport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479145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59E0B"/>
                </a:solidFill>
              </a:rPr>
              <a:t>Libraries &amp; Tools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5065776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0F8"/>
                </a:solidFill>
              </a:rPr>
              <a:t>• ESLint, Vitest, Playwright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5321808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0F8"/>
                </a:solidFill>
              </a:rPr>
              <a:t>• @axe-core (a11y), lint-staged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55778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0F8"/>
                </a:solidFill>
              </a:rPr>
              <a:t>• bcrypt, Helmet, Compression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5833872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0F8"/>
                </a:solidFill>
              </a:rPr>
              <a:t>• Docker, GitHub Actions CI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2. Internship Objectives &amp; Work Assigned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6459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5577840" cy="5303520"/>
          </a:xfrm>
          <a:prstGeom prst="rect">
            <a:avLst/>
          </a:prstGeom>
          <a:solidFill>
            <a:srgbClr val="0F1B30"/>
          </a:solidFill>
          <a:ln w="1016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</a:rPr>
              <a:t>Internship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934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0F8"/>
                </a:solidFill>
              </a:rPr>
              <a:t>• Understand full-stack MERN development 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0F8"/>
                </a:solidFill>
              </a:rPr>
              <a:t>• Implement enterprise-grade security best practices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774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0F8"/>
                </a:solidFill>
              </a:rPr>
              <a:t>• Build real-time features using WebSockets (Socket.io)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6148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0F8"/>
                </a:solidFill>
              </a:rPr>
              <a:t>• Deploy application using Docker &amp; Render/Vercel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4553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0F8"/>
                </a:solidFill>
              </a:rPr>
              <a:t>• Write comprehensive unit, integration &amp; E2E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2958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0F8"/>
                </a:solidFill>
              </a:rPr>
              <a:t>• Implement WCAG AA accessibility compliance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051560"/>
            <a:ext cx="5577840" cy="5303520"/>
          </a:xfrm>
          <a:prstGeom prst="rect">
            <a:avLst/>
          </a:prstGeom>
          <a:solidFill>
            <a:srgbClr val="0F1B30"/>
          </a:solidFill>
          <a:ln w="1016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188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</a:rPr>
              <a:t>Work Assigned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60934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0F8"/>
                </a:solidFill>
              </a:rPr>
              <a:t>• Full-stack application development (frontend + backend)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99339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0F8"/>
                </a:solidFill>
              </a:rPr>
              <a:t>• Database modeling &amp; MongoDB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3774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0F8"/>
                </a:solidFill>
              </a:rPr>
              <a:t>• Real-time event system &amp; Socket.io chat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76148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0F8"/>
                </a:solidFill>
              </a:rPr>
              <a:t>• GIS mapping with Leaflet &amp; geo-spatial queries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14553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0F8"/>
                </a:solidFill>
              </a:rPr>
              <a:t>• Security hardening (11 security items implemented)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52958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0F8"/>
                </a:solidFill>
              </a:rPr>
              <a:t>• Docker containerization &amp; Render 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91363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0F8"/>
                </a:solidFill>
              </a:rPr>
              <a:t>• Performance optimization (code splitting, lazy loading)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29768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0F8"/>
                </a:solidFill>
              </a:rPr>
              <a:t>• Writing testing suites (Vitest + Playwright)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3. 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6459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30000" cy="2560320"/>
          </a:xfrm>
          <a:prstGeom prst="rect">
            <a:avLst/>
          </a:prstGeom>
          <a:solidFill>
            <a:srgbClr val="0F1B30"/>
          </a:solidFill>
          <a:ln w="762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</a:rPr>
              <a:t>EXISTING SYSTEM /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111556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0F8"/>
                </a:solidFill>
              </a:rPr>
              <a:t>During disaster events, relief coordination is severely hampered by:
• Fragmented communication between government agencies, NGOs and volunteers
• No centralized view of resources, shelters, or affected populations
• Delayed response due to manual phone calls &amp; paper-based tracking
• No real-time SOS alerts broadcast to field responders
• Inability to track resource allocation across disaster zones dynamically
• Language barriers limiting access for rural &amp; Urdu-speaking communities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749039"/>
            <a:ext cx="11430000" cy="2743200"/>
          </a:xfrm>
          <a:prstGeom prst="rect">
            <a:avLst/>
          </a:prstGeom>
          <a:solidFill>
            <a:srgbClr val="0F1B30"/>
          </a:solidFill>
          <a:ln w="762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385876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</a:rPr>
              <a:t>PROPOSED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187952"/>
            <a:ext cx="111556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0F8"/>
                </a:solidFill>
              </a:rPr>
              <a:t>The Disaster Relief Coordination Platform (DRCP) provides a unified MERN-based web application:
• Centralized task board with status tracking for all relief requests
• Real-time GIS map (Leaflet) with disaster overlays for zone monitoring
• SOS emergency broadcast system with GPS coordinates to all responders
• Resource &amp; inventory management with smart allocation &amp; matching
• 10-language i18n support (including Urdu RTL) for inclusive access
• Admin dashboard with escalation workflows, bulk CSV ops &amp;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4.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6459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3520440" cy="5303520"/>
          </a:xfrm>
          <a:prstGeom prst="rect">
            <a:avLst/>
          </a:prstGeom>
          <a:solidFill>
            <a:srgbClr val="0F1B30"/>
          </a:solidFill>
          <a:ln w="1016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B82F6"/>
                </a:solidFill>
              </a:rPr>
              <a:t>CLIENT 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563624"/>
            <a:ext cx="3246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0F8"/>
                </a:solidFill>
              </a:rPr>
              <a:t>• React 18 SPA (port 5173)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276856"/>
            <a:ext cx="3246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0F8"/>
                </a:solidFill>
              </a:rPr>
              <a:t>• 22 lazy-loaded pages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990088"/>
            <a:ext cx="3246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0F8"/>
                </a:solidFill>
              </a:rPr>
              <a:t>• 17 reusable UI components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3703320"/>
            <a:ext cx="3246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0F8"/>
                </a:solidFill>
              </a:rPr>
              <a:t>• 9 custom React hooks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4416552"/>
            <a:ext cx="3246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0F8"/>
                </a:solidFill>
              </a:rPr>
              <a:t>• Role-based routing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5129784"/>
            <a:ext cx="3246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0F8"/>
                </a:solidFill>
              </a:rPr>
              <a:t>• Dark/Light/Neon themes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1051560"/>
            <a:ext cx="3520440" cy="5303520"/>
          </a:xfrm>
          <a:prstGeom prst="rect">
            <a:avLst/>
          </a:prstGeom>
          <a:solidFill>
            <a:srgbClr val="0F1B30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51959" y="117043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A78BFA"/>
                </a:solidFill>
              </a:rPr>
              <a:t>API TIER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5112" y="1563624"/>
            <a:ext cx="3246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0F8"/>
                </a:solidFill>
              </a:rPr>
              <a:t>• Express.js REST API (port 5001)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5112" y="2276856"/>
            <a:ext cx="3246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0F8"/>
                </a:solidFill>
              </a:rPr>
              <a:t>• 15 route modules (70+ endpoints)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2990088"/>
            <a:ext cx="3246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0F8"/>
                </a:solidFill>
              </a:rPr>
              <a:t>• JWT Auth + Passport OAuth2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3703320"/>
            <a:ext cx="3246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0F8"/>
                </a:solidFill>
              </a:rPr>
              <a:t>• Socket.io real-time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5112" y="4416552"/>
            <a:ext cx="3246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0F8"/>
                </a:solidFill>
              </a:rPr>
              <a:t>• Joi input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5129784"/>
            <a:ext cx="3246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0F8"/>
                </a:solidFill>
              </a:rPr>
              <a:t>• Rate limiting per endpoint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1051560"/>
            <a:ext cx="3520440" cy="5303520"/>
          </a:xfrm>
          <a:prstGeom prst="rect">
            <a:avLst/>
          </a:prstGeom>
          <a:solidFill>
            <a:srgbClr val="0F1B30"/>
          </a:solidFill>
          <a:ln w="1016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19" y="117043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B8A6"/>
                </a:solidFill>
              </a:rPr>
              <a:t>DATA TIER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9871" y="1563624"/>
            <a:ext cx="3246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0F8"/>
                </a:solidFill>
              </a:rPr>
              <a:t>• MongoDB 7 (2dsphere indexes)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1" y="2276856"/>
            <a:ext cx="3246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0F8"/>
                </a:solidFill>
              </a:rPr>
              <a:t>• 9 Mongoose models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9871" y="2990088"/>
            <a:ext cx="3246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0F8"/>
                </a:solidFill>
              </a:rPr>
              <a:t>• GeoJSON Point locations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9871" y="3703320"/>
            <a:ext cx="3246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0F8"/>
                </a:solidFill>
              </a:rPr>
              <a:t>• $geoWithin / $near queries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9871" y="4416552"/>
            <a:ext cx="3246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0F8"/>
                </a:solidFill>
              </a:rPr>
              <a:t>• 5x retry connection logic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9871" y="5129784"/>
            <a:ext cx="3246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0F8"/>
                </a:solidFill>
              </a:rPr>
              <a:t>• Real-time sync via Socket.io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29260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29260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5. Project Description —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6459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657600" cy="1508760"/>
          </a:xfrm>
          <a:prstGeom prst="rect">
            <a:avLst/>
          </a:prstGeom>
          <a:solidFill>
            <a:srgbClr val="0F1B30"/>
          </a:solidFill>
          <a:ln w="76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347472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dirty="0">
                <a:solidFill>
                  <a:srgbClr val="3B82F6"/>
                </a:solidFill>
              </a:rPr>
              <a:t>  Auth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44752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0E0F8"/>
                </a:solidFill>
              </a:rPr>
              <a:t>JWT auth, OAuth2 (GitHub/Google), password reset via email, role-based access (volunteer / NGO / admin)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24528" y="1097280"/>
            <a:ext cx="3657600" cy="1508760"/>
          </a:xfrm>
          <a:prstGeom prst="rect">
            <a:avLst/>
          </a:prstGeom>
          <a:solidFill>
            <a:srgbClr val="0F1B30"/>
          </a:solidFill>
          <a:ln w="762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15968" y="1152144"/>
            <a:ext cx="347472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dirty="0">
                <a:solidFill>
                  <a:srgbClr val="14B8A6"/>
                </a:solidFill>
              </a:rPr>
              <a:t>  GIS Map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1444752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0E0F8"/>
                </a:solidFill>
              </a:rPr>
              <a:t>Leaflet maps with satellite/terrain overlays, flood/cyclone/earthquake layers, pulsing SOS markers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83296" y="1097280"/>
            <a:ext cx="3657600" cy="1508760"/>
          </a:xfrm>
          <a:prstGeom prst="rect">
            <a:avLst/>
          </a:prstGeom>
          <a:solidFill>
            <a:srgbClr val="0F1B30"/>
          </a:solidFill>
          <a:ln w="762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74736" y="1152144"/>
            <a:ext cx="347472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dirty="0">
                <a:solidFill>
                  <a:srgbClr val="F97316"/>
                </a:solidFill>
              </a:rPr>
              <a:t>Requests Module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4736" y="1444752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0E0F8"/>
                </a:solidFill>
              </a:rPr>
              <a:t>CRUD relief requests with status/priority, file attachments, comments, real-time chat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70632"/>
            <a:ext cx="3657600" cy="1508760"/>
          </a:xfrm>
          <a:prstGeom prst="rect">
            <a:avLst/>
          </a:prstGeom>
          <a:solidFill>
            <a:srgbClr val="0F1B30"/>
          </a:solidFill>
          <a:ln w="762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2825496"/>
            <a:ext cx="347472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dirty="0">
                <a:solidFill>
                  <a:srgbClr val="EF4444"/>
                </a:solidFill>
              </a:rPr>
              <a:t>  SOS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118103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0E0F8"/>
                </a:solidFill>
              </a:rPr>
              <a:t>One-tap emergency alert with GPS broadcast to all responders, auto-notification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24528" y="2770632"/>
            <a:ext cx="3657600" cy="1508760"/>
          </a:xfrm>
          <a:prstGeom prst="rect">
            <a:avLst/>
          </a:prstGeom>
          <a:solidFill>
            <a:srgbClr val="0F1B30"/>
          </a:solidFill>
          <a:ln w="762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15968" y="2825496"/>
            <a:ext cx="347472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dirty="0">
                <a:solidFill>
                  <a:srgbClr val="A78BFA"/>
                </a:solidFill>
              </a:rPr>
              <a:t>  Volunteer </a:t>
            </a:r>
            <a:r>
              <a:rPr sz="950" b="1" dirty="0" err="1">
                <a:solidFill>
                  <a:srgbClr val="A78BFA"/>
                </a:solidFill>
              </a:rPr>
              <a:t>Mgmt</a:t>
            </a:r>
            <a:endParaRPr sz="950" b="1" dirty="0">
              <a:solidFill>
                <a:srgbClr val="A78BFA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315968" y="3118103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0E0F8"/>
                </a:solidFill>
              </a:rPr>
              <a:t>Profile, availability, skill tags, check-in/attendance, schedule calendar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83296" y="2770632"/>
            <a:ext cx="3657600" cy="1508760"/>
          </a:xfrm>
          <a:prstGeom prst="rect">
            <a:avLst/>
          </a:prstGeom>
          <a:solidFill>
            <a:srgbClr val="0F1B30"/>
          </a:solidFill>
          <a:ln w="762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74736" y="2825496"/>
            <a:ext cx="347472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dirty="0">
                <a:solidFill>
                  <a:srgbClr val="06B6D4"/>
                </a:solidFill>
              </a:rPr>
              <a:t>  Real-time Chat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4736" y="3118103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0E0F8"/>
                </a:solidFill>
              </a:rPr>
              <a:t>Socket.io rooms per request, JWT-authenticated, live message updates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83296" y="4443983"/>
            <a:ext cx="3657600" cy="1508760"/>
          </a:xfrm>
          <a:prstGeom prst="rect">
            <a:avLst/>
          </a:prstGeom>
          <a:solidFill>
            <a:srgbClr val="0F1B30"/>
          </a:solidFill>
          <a:ln w="762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E4C407B-5CEF-6AC7-0C5E-35C42D146BF4}"/>
              </a:ext>
            </a:extLst>
          </p:cNvPr>
          <p:cNvGrpSpPr/>
          <p:nvPr/>
        </p:nvGrpSpPr>
        <p:grpSpPr>
          <a:xfrm>
            <a:off x="8083296" y="4594859"/>
            <a:ext cx="3566160" cy="1325880"/>
            <a:chOff x="11334608" y="2921508"/>
            <a:chExt cx="3566160" cy="1325880"/>
          </a:xfrm>
        </p:grpSpPr>
        <p:sp>
          <p:nvSpPr>
            <p:cNvPr id="28" name="TextBox 27"/>
            <p:cNvSpPr txBox="1"/>
            <p:nvPr/>
          </p:nvSpPr>
          <p:spPr>
            <a:xfrm>
              <a:off x="11426048" y="2921508"/>
              <a:ext cx="3474720" cy="2385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1" dirty="0">
                  <a:solidFill>
                    <a:srgbClr val="F59E0B"/>
                  </a:solidFill>
                </a:rPr>
                <a:t>  Admin Dashboard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1334608" y="3150108"/>
              <a:ext cx="3474720" cy="1097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50" b="0" dirty="0">
                  <a:solidFill>
                    <a:srgbClr val="D0E0F8"/>
                  </a:solidFill>
                </a:rPr>
                <a:t>User &amp; request management, escalation workflows, charts, CSV upload</a:t>
              </a:r>
            </a:p>
          </p:txBody>
        </p:sp>
      </p:grpSp>
      <p:sp>
        <p:nvSpPr>
          <p:cNvPr id="30" name="Rectangle 29"/>
          <p:cNvSpPr/>
          <p:nvPr/>
        </p:nvSpPr>
        <p:spPr>
          <a:xfrm>
            <a:off x="365760" y="4443983"/>
            <a:ext cx="3657600" cy="1508760"/>
          </a:xfrm>
          <a:prstGeom prst="rect">
            <a:avLst/>
          </a:prstGeom>
          <a:solidFill>
            <a:srgbClr val="0F1B30"/>
          </a:solidFill>
          <a:ln w="76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4498847"/>
            <a:ext cx="347472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dirty="0">
                <a:solidFill>
                  <a:srgbClr val="3B82F6"/>
                </a:solidFill>
              </a:rPr>
              <a:t>  i18n Module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791455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0E0F8"/>
                </a:solidFill>
              </a:rPr>
              <a:t>10 languages incl. Urdu (RTL), lazy-loaded locale files, automatic locale detection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24528" y="4443983"/>
            <a:ext cx="3657600" cy="1508760"/>
          </a:xfrm>
          <a:prstGeom prst="rect">
            <a:avLst/>
          </a:prstGeom>
          <a:solidFill>
            <a:srgbClr val="0F1B30"/>
          </a:solidFill>
          <a:ln w="762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15968" y="4498847"/>
            <a:ext cx="347472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dirty="0">
                <a:solidFill>
                  <a:srgbClr val="EF4444"/>
                </a:solidFill>
              </a:rPr>
              <a:t>  Security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15968" y="4791455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0E0F8"/>
                </a:solidFill>
              </a:rPr>
              <a:t>Helmet CSP, CORS allowlist, rate limiting (SOS: 5/min), Joi validation, Helmet, SanitizeBody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6. Work Performed — Week-wise Activities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6459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3977639"/>
            <a:ext cx="5437785" cy="2723204"/>
          </a:xfrm>
          <a:prstGeom prst="rect">
            <a:avLst/>
          </a:prstGeom>
          <a:solidFill>
            <a:srgbClr val="0F1B30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172200" y="3977639"/>
            <a:ext cx="5510936" cy="2741492"/>
          </a:xfrm>
          <a:prstGeom prst="rect">
            <a:avLst/>
          </a:prstGeom>
          <a:solidFill>
            <a:srgbClr val="0F1B3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2A13CCA-5D5F-8088-6B7F-EE7B2819D8E0}"/>
              </a:ext>
            </a:extLst>
          </p:cNvPr>
          <p:cNvGrpSpPr/>
          <p:nvPr/>
        </p:nvGrpSpPr>
        <p:grpSpPr>
          <a:xfrm>
            <a:off x="-1" y="817634"/>
            <a:ext cx="12191695" cy="6056945"/>
            <a:chOff x="76046" y="1051560"/>
            <a:chExt cx="12191695" cy="6056945"/>
          </a:xfrm>
        </p:grpSpPr>
        <p:sp>
          <p:nvSpPr>
            <p:cNvPr id="3" name="Rectangle 2"/>
            <p:cNvSpPr/>
            <p:nvPr/>
          </p:nvSpPr>
          <p:spPr>
            <a:xfrm>
              <a:off x="76046" y="6971345"/>
              <a:ext cx="12191695" cy="13716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ectangle 5"/>
            <p:cNvSpPr/>
            <p:nvPr/>
          </p:nvSpPr>
          <p:spPr>
            <a:xfrm>
              <a:off x="365759" y="1051560"/>
              <a:ext cx="5577841" cy="2907791"/>
            </a:xfrm>
            <a:prstGeom prst="rect">
              <a:avLst/>
            </a:prstGeom>
            <a:solidFill>
              <a:srgbClr val="0F1B30"/>
            </a:solidFill>
            <a:ln w="12700">
              <a:solidFill>
                <a:srgbClr val="3B82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365760" y="1051560"/>
              <a:ext cx="5577840" cy="384048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38912" y="1069848"/>
              <a:ext cx="5440679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1">
                  <a:solidFill>
                    <a:srgbClr val="FFFFFF"/>
                  </a:solidFill>
                </a:rPr>
                <a:t>Week 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38912" y="1463039"/>
              <a:ext cx="5440679" cy="2926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>
                  <a:solidFill>
                    <a:srgbClr val="3B82F6"/>
                  </a:solidFill>
                </a:rPr>
                <a:t>Training &amp; Requirement Analysis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02920" y="1783079"/>
              <a:ext cx="5376672" cy="2377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0">
                  <a:solidFill>
                    <a:srgbClr val="D0E0F8"/>
                  </a:solidFill>
                </a:rPr>
                <a:t>• Set up MERN development environment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02920" y="2148839"/>
              <a:ext cx="5376672" cy="2377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0">
                  <a:solidFill>
                    <a:srgbClr val="D0E0F8"/>
                  </a:solidFill>
                </a:rPr>
                <a:t>• Analyzed 17+ page requirements &amp; existing APIs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02920" y="2514599"/>
              <a:ext cx="5376672" cy="2377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0">
                  <a:solidFill>
                    <a:srgbClr val="D0E0F8"/>
                  </a:solidFill>
                </a:rPr>
                <a:t>• Studied design system (17 CSS files, design tokens)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02920" y="2880359"/>
              <a:ext cx="5376672" cy="2377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0">
                  <a:solidFill>
                    <a:srgbClr val="D0E0F8"/>
                  </a:solidFill>
                </a:rPr>
                <a:t>• Explored 9 Mongoose models &amp; 15 Express routes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02920" y="3246119"/>
              <a:ext cx="5376672" cy="2377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0">
                  <a:solidFill>
                    <a:srgbClr val="D0E0F8"/>
                  </a:solidFill>
                </a:rPr>
                <a:t>• Reviewed security checklist (11 items)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02920" y="3611879"/>
              <a:ext cx="5376672" cy="2377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0">
                  <a:solidFill>
                    <a:srgbClr val="D0E0F8"/>
                  </a:solidFill>
                </a:rPr>
                <a:t>• Learned Socket.io real-time event patterns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172200" y="1051560"/>
              <a:ext cx="5513832" cy="2944367"/>
            </a:xfrm>
            <a:prstGeom prst="rect">
              <a:avLst/>
            </a:prstGeom>
            <a:solidFill>
              <a:srgbClr val="0F1B30"/>
            </a:solidFill>
            <a:ln w="12700">
              <a:solidFill>
                <a:srgbClr val="22C55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172200" y="1051560"/>
              <a:ext cx="5577840" cy="384048"/>
            </a:xfrm>
            <a:prstGeom prst="rect">
              <a:avLst/>
            </a:prstGeom>
            <a:solidFill>
              <a:srgbClr val="22C5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245352" y="1069848"/>
              <a:ext cx="5440679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1">
                  <a:solidFill>
                    <a:srgbClr val="FFFFFF"/>
                  </a:solidFill>
                </a:rPr>
                <a:t>Week 2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245352" y="1463039"/>
              <a:ext cx="5440679" cy="2926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>
                  <a:solidFill>
                    <a:srgbClr val="22C55E"/>
                  </a:solidFill>
                </a:rPr>
                <a:t>Development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309360" y="1783079"/>
              <a:ext cx="5376672" cy="2377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0">
                  <a:solidFill>
                    <a:srgbClr val="D0E0F8"/>
                  </a:solidFill>
                </a:rPr>
                <a:t>• Built authentication (JWT + OAuth2)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309360" y="2148839"/>
              <a:ext cx="5376672" cy="2377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0">
                  <a:solidFill>
                    <a:srgbClr val="D0E0F8"/>
                  </a:solidFill>
                </a:rPr>
                <a:t>• Developed GIS mapping with Leaflet (satellite/terrain/flood overlays)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309360" y="2514599"/>
              <a:ext cx="5376672" cy="2377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0">
                  <a:solidFill>
                    <a:srgbClr val="D0E0F8"/>
                  </a:solidFill>
                </a:rPr>
                <a:t>• Implemented real-time SOS broadcast system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309360" y="2880359"/>
              <a:ext cx="5376672" cy="2377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0">
                  <a:solidFill>
                    <a:srgbClr val="D0E0F8"/>
                  </a:solidFill>
                </a:rPr>
                <a:t>• Built resource &amp; inventory management (15 categories)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309360" y="3246119"/>
              <a:ext cx="5376672" cy="2377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0">
                  <a:solidFill>
                    <a:srgbClr val="D0E0F8"/>
                  </a:solidFill>
                </a:rPr>
                <a:t>• Created admin dashboard with charts &amp; escalation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309360" y="3611879"/>
              <a:ext cx="5376672" cy="2377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0">
                  <a:solidFill>
                    <a:srgbClr val="D0E0F8"/>
                  </a:solidFill>
                </a:rPr>
                <a:t>• Integrated Socket.io chat rooms per request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65760" y="3977639"/>
              <a:ext cx="5577840" cy="384048"/>
            </a:xfrm>
            <a:prstGeom prst="rect">
              <a:avLst/>
            </a:prstGeom>
            <a:solidFill>
              <a:srgbClr val="A78BF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38912" y="3995927"/>
              <a:ext cx="5440679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1">
                  <a:solidFill>
                    <a:srgbClr val="FFFFFF"/>
                  </a:solidFill>
                </a:rPr>
                <a:t>Week 3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38912" y="4389120"/>
              <a:ext cx="5440679" cy="2926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>
                  <a:solidFill>
                    <a:srgbClr val="A78BFA"/>
                  </a:solidFill>
                </a:rPr>
                <a:t>Testing &amp; Integration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02920" y="4709160"/>
              <a:ext cx="5376672" cy="2377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0">
                  <a:solidFill>
                    <a:srgbClr val="D0E0F8"/>
                  </a:solidFill>
                </a:rPr>
                <a:t>• Wrote 175+ unit tests (Vitest + @testing-library)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02920" y="5074920"/>
              <a:ext cx="5376672" cy="2377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0">
                  <a:solidFill>
                    <a:srgbClr val="D0E0F8"/>
                  </a:solidFill>
                </a:rPr>
                <a:t>• 13 Playwright E2E tests (theme toggle, login, lang)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02920" y="5440680"/>
              <a:ext cx="5376672" cy="2377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0">
                  <a:solidFill>
                    <a:srgbClr val="D0E0F8"/>
                  </a:solidFill>
                </a:rPr>
                <a:t>• Accessibility tests (axe-core, ARIA check)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02920" y="5806440"/>
              <a:ext cx="5376672" cy="2377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0">
                  <a:solidFill>
                    <a:srgbClr val="D0E0F8"/>
                  </a:solidFill>
                </a:rPr>
                <a:t>• Integrated Socket.io with auth &amp; reconnection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02920" y="6172200"/>
              <a:ext cx="5376672" cy="2377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0">
                  <a:solidFill>
                    <a:srgbClr val="D0E0F8"/>
                  </a:solidFill>
                </a:rPr>
                <a:t>• PWA: service worker v7, offline fallback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02920" y="6537960"/>
              <a:ext cx="5376672" cy="2377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0">
                  <a:solidFill>
                    <a:srgbClr val="D0E0F8"/>
                  </a:solidFill>
                </a:rPr>
                <a:t>• Cross-browser &amp; responsive testing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6172200" y="3977639"/>
              <a:ext cx="5577840" cy="384048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245352" y="3995927"/>
              <a:ext cx="5440679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1">
                  <a:solidFill>
                    <a:srgbClr val="FFFFFF"/>
                  </a:solidFill>
                </a:rPr>
                <a:t>Week 4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245352" y="4389120"/>
              <a:ext cx="5440679" cy="2926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>
                  <a:solidFill>
                    <a:srgbClr val="F59E0B"/>
                  </a:solidFill>
                </a:rPr>
                <a:t>Deployment &amp; Documentation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309360" y="4709160"/>
              <a:ext cx="5376672" cy="2377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0">
                  <a:solidFill>
                    <a:srgbClr val="D0E0F8"/>
                  </a:solidFill>
                </a:rPr>
                <a:t>• Docker multi-stage builds (client + server)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309360" y="5074920"/>
              <a:ext cx="5376672" cy="2377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0">
                  <a:solidFill>
                    <a:srgbClr val="D0E0F8"/>
                  </a:solidFill>
                </a:rPr>
                <a:t>• Docker Compose for local MongoDB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309360" y="5440680"/>
              <a:ext cx="5376672" cy="2377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0">
                  <a:solidFill>
                    <a:srgbClr val="D0E0F8"/>
                  </a:solidFill>
                </a:rPr>
                <a:t>• GitHub Actions CI/CD pipeline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309360" y="5806440"/>
              <a:ext cx="5376672" cy="2377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0">
                  <a:solidFill>
                    <a:srgbClr val="D0E0F8"/>
                  </a:solidFill>
                </a:rPr>
                <a:t>• Render backend + Vercel frontend deployment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309360" y="6172200"/>
              <a:ext cx="5376672" cy="2377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0">
                  <a:solidFill>
                    <a:srgbClr val="D0E0F8"/>
                  </a:solidFill>
                </a:rPr>
                <a:t>• Wrote DESIGN_SYSTEM.md, UI-UX-DESIGN.md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309360" y="6537960"/>
              <a:ext cx="5376672" cy="2377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0">
                  <a:solidFill>
                    <a:srgbClr val="D0E0F8"/>
                  </a:solidFill>
                </a:rPr>
                <a:t>• Integrated monitoring &amp; server keepalive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7. Implementation Details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6459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7132320" cy="5303520"/>
          </a:xfrm>
          <a:prstGeom prst="rect">
            <a:avLst/>
          </a:prstGeom>
          <a:solidFill>
            <a:srgbClr val="0F1B30"/>
          </a:solidFill>
          <a:ln w="76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</a:rPr>
              <a:t>SOURCE CODE HIGHLIGHTS (server/routes/sos.js)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6903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0F2FF"/>
                </a:solidFill>
              </a:rPr>
              <a:t>// SOS emergency broadcast via Socket.io
io.to('sos').emit('new:sos', {
  location: SOSAlert.location,
  category,
  priority,
  requestedBy: user.name,
  timestamp: new Date(),
});
// Geo-spatial query — find nearby resources
const nearby = await Resource.find({
  location: {
    $near: {
      $geometry: { type: 'Point', coordinates },
      $maxDistance: 5000
    }
  },
  category,
}).select('name category location amount');
// Joi validation — sanitize SOS input
const schema = Joi.object({
  category: Joi.string().required(),
  priority: Joi.string().valid(...).required(),
  description: Joi.string().max(500).allow(''),
});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20" y="1051560"/>
            <a:ext cx="3995928" cy="5303520"/>
          </a:xfrm>
          <a:prstGeom prst="rect">
            <a:avLst/>
          </a:prstGeom>
          <a:solidFill>
            <a:srgbClr val="0F1B30"/>
          </a:solidFill>
          <a:ln w="762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79" y="1170432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UI PAGES / SCREENSHOTS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5230368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B82F6"/>
                </a:solidFill>
              </a:rPr>
              <a:t>→ disasterhelper.dpdns.org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534924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dirty="0">
                <a:solidFill>
                  <a:srgbClr val="F59E0B"/>
                </a:solidFill>
              </a:rPr>
              <a:t>DATABASE (9 Models)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55778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0E0F8"/>
                </a:solidFill>
              </a:rPr>
              <a:t>• User, Request, Resource
• Zone, SosAlert, Incident
• Schedule, ChatMessage, Feedback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1DEC5A1-F92B-44B9-257F-0B6A3E43D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817" y="1510167"/>
            <a:ext cx="3492534" cy="161911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2F2B0B8-B889-FDD8-7B76-7293D707B0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940" y="3289490"/>
            <a:ext cx="3533412" cy="18764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8. Results &amp; Achievements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6459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4C79EB5-4B37-4F01-A8BA-DEC8BC2664EB}"/>
              </a:ext>
            </a:extLst>
          </p:cNvPr>
          <p:cNvGrpSpPr/>
          <p:nvPr/>
        </p:nvGrpSpPr>
        <p:grpSpPr>
          <a:xfrm>
            <a:off x="365760" y="1097280"/>
            <a:ext cx="5009804" cy="2130552"/>
            <a:chOff x="365760" y="1097280"/>
            <a:chExt cx="5925312" cy="3090672"/>
          </a:xfrm>
        </p:grpSpPr>
        <p:sp>
          <p:nvSpPr>
            <p:cNvPr id="6" name="Rectangle 5"/>
            <p:cNvSpPr/>
            <p:nvPr/>
          </p:nvSpPr>
          <p:spPr>
            <a:xfrm>
              <a:off x="365760" y="1097280"/>
              <a:ext cx="1097280" cy="1463040"/>
            </a:xfrm>
            <a:prstGeom prst="rect">
              <a:avLst/>
            </a:prstGeom>
            <a:solidFill>
              <a:srgbClr val="0F1B30"/>
            </a:solidFill>
            <a:ln w="6350">
              <a:solidFill>
                <a:srgbClr val="3B82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11480" y="1188720"/>
              <a:ext cx="1005839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1">
                  <a:solidFill>
                    <a:srgbClr val="FFFFFF"/>
                  </a:solidFill>
                </a:rPr>
                <a:t>17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11480" y="1600200"/>
              <a:ext cx="1005839" cy="914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50" b="0">
                  <a:solidFill>
                    <a:srgbClr val="D0E0F8"/>
                  </a:solidFill>
                </a:rPr>
                <a:t>UI Pages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572767" y="1097280"/>
              <a:ext cx="1097280" cy="1463040"/>
            </a:xfrm>
            <a:prstGeom prst="rect">
              <a:avLst/>
            </a:prstGeom>
            <a:solidFill>
              <a:srgbClr val="0F1B30"/>
            </a:solidFill>
            <a:ln w="6350">
              <a:solidFill>
                <a:srgbClr val="3B82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618487" y="1188720"/>
              <a:ext cx="1005839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1">
                  <a:solidFill>
                    <a:srgbClr val="FFFFFF"/>
                  </a:solidFill>
                </a:rPr>
                <a:t>70+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618487" y="1600200"/>
              <a:ext cx="1005839" cy="914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50" b="0">
                  <a:solidFill>
                    <a:srgbClr val="D0E0F8"/>
                  </a:solidFill>
                </a:rPr>
                <a:t>API Endpoints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779775" y="1097280"/>
              <a:ext cx="1097280" cy="1463040"/>
            </a:xfrm>
            <a:prstGeom prst="rect">
              <a:avLst/>
            </a:prstGeom>
            <a:solidFill>
              <a:srgbClr val="0F1B30"/>
            </a:solidFill>
            <a:ln w="6350">
              <a:solidFill>
                <a:srgbClr val="3B82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825495" y="1188720"/>
              <a:ext cx="1005839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1">
                  <a:solidFill>
                    <a:srgbClr val="FFFFFF"/>
                  </a:solidFill>
                </a:rPr>
                <a:t>9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825495" y="1600200"/>
              <a:ext cx="1005839" cy="914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50" b="0">
                  <a:solidFill>
                    <a:srgbClr val="D0E0F8"/>
                  </a:solidFill>
                </a:rPr>
                <a:t>DB Models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986783" y="1097280"/>
              <a:ext cx="1097280" cy="1463040"/>
            </a:xfrm>
            <a:prstGeom prst="rect">
              <a:avLst/>
            </a:prstGeom>
            <a:solidFill>
              <a:srgbClr val="0F1B30"/>
            </a:solidFill>
            <a:ln w="6350">
              <a:solidFill>
                <a:srgbClr val="3B82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032503" y="1188720"/>
              <a:ext cx="1005839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1">
                  <a:solidFill>
                    <a:srgbClr val="FFFFFF"/>
                  </a:solidFill>
                </a:rPr>
                <a:t>10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032503" y="1600200"/>
              <a:ext cx="1005839" cy="914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50" b="0">
                  <a:solidFill>
                    <a:srgbClr val="D0E0F8"/>
                  </a:solidFill>
                </a:rPr>
                <a:t>Languages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193792" y="1097280"/>
              <a:ext cx="1097280" cy="1463040"/>
            </a:xfrm>
            <a:prstGeom prst="rect">
              <a:avLst/>
            </a:prstGeom>
            <a:solidFill>
              <a:srgbClr val="0F1B30"/>
            </a:solidFill>
            <a:ln w="6350">
              <a:solidFill>
                <a:srgbClr val="3B82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239512" y="1188720"/>
              <a:ext cx="1005839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1">
                  <a:solidFill>
                    <a:srgbClr val="FFFFFF"/>
                  </a:solidFill>
                </a:rPr>
                <a:t>175+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239512" y="1600200"/>
              <a:ext cx="1005839" cy="914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50" b="0">
                  <a:solidFill>
                    <a:srgbClr val="D0E0F8"/>
                  </a:solidFill>
                </a:rPr>
                <a:t>Unit Tests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65760" y="2724912"/>
              <a:ext cx="1097280" cy="1463040"/>
            </a:xfrm>
            <a:prstGeom prst="rect">
              <a:avLst/>
            </a:prstGeom>
            <a:solidFill>
              <a:srgbClr val="0F1B30"/>
            </a:solidFill>
            <a:ln w="6350">
              <a:solidFill>
                <a:srgbClr val="3B82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11480" y="2816352"/>
              <a:ext cx="1005839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1">
                  <a:solidFill>
                    <a:srgbClr val="FFFFFF"/>
                  </a:solidFill>
                </a:rPr>
                <a:t>13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11480" y="3227832"/>
              <a:ext cx="1005839" cy="914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50" b="0">
                  <a:solidFill>
                    <a:srgbClr val="D0E0F8"/>
                  </a:solidFill>
                </a:rPr>
                <a:t>E2E Tests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572767" y="2724912"/>
              <a:ext cx="1097280" cy="1463040"/>
            </a:xfrm>
            <a:prstGeom prst="rect">
              <a:avLst/>
            </a:prstGeom>
            <a:solidFill>
              <a:srgbClr val="0F1B30"/>
            </a:solidFill>
            <a:ln w="6350">
              <a:solidFill>
                <a:srgbClr val="3B82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618487" y="2816352"/>
              <a:ext cx="1005839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1">
                  <a:solidFill>
                    <a:srgbClr val="FFFFFF"/>
                  </a:solidFill>
                </a:rPr>
                <a:t>15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618487" y="3227832"/>
              <a:ext cx="1005839" cy="914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50" b="0">
                  <a:solidFill>
                    <a:srgbClr val="D0E0F8"/>
                  </a:solidFill>
                </a:rPr>
                <a:t>Route Modules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779775" y="2724912"/>
              <a:ext cx="1097280" cy="1463040"/>
            </a:xfrm>
            <a:prstGeom prst="rect">
              <a:avLst/>
            </a:prstGeom>
            <a:solidFill>
              <a:srgbClr val="0F1B30"/>
            </a:solidFill>
            <a:ln w="6350">
              <a:solidFill>
                <a:srgbClr val="3B82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825495" y="2816352"/>
              <a:ext cx="1005839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1">
                  <a:solidFill>
                    <a:srgbClr val="FFFFFF"/>
                  </a:solidFill>
                </a:rPr>
                <a:t>19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825495" y="3227832"/>
              <a:ext cx="1005839" cy="914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50" b="0">
                  <a:solidFill>
                    <a:srgbClr val="D0E0F8"/>
                  </a:solidFill>
                </a:rPr>
                <a:t>CSS Files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986783" y="2724912"/>
              <a:ext cx="1097280" cy="1463040"/>
            </a:xfrm>
            <a:prstGeom prst="rect">
              <a:avLst/>
            </a:prstGeom>
            <a:solidFill>
              <a:srgbClr val="0F1B30"/>
            </a:solidFill>
            <a:ln w="6350">
              <a:solidFill>
                <a:srgbClr val="3B82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032503" y="2816352"/>
              <a:ext cx="1005839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1">
                  <a:solidFill>
                    <a:srgbClr val="FFFFFF"/>
                  </a:solidFill>
                </a:rPr>
                <a:t>A+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032503" y="3227832"/>
              <a:ext cx="1005839" cy="914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50" b="0">
                  <a:solidFill>
                    <a:srgbClr val="D0E0F8"/>
                  </a:solidFill>
                </a:rPr>
                <a:t>Security Grade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5193792" y="2724912"/>
              <a:ext cx="1097280" cy="1463040"/>
            </a:xfrm>
            <a:prstGeom prst="rect">
              <a:avLst/>
            </a:prstGeom>
            <a:solidFill>
              <a:srgbClr val="0F1B30"/>
            </a:solidFill>
            <a:ln w="6350">
              <a:solidFill>
                <a:srgbClr val="3B82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239512" y="2816352"/>
              <a:ext cx="1005839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1">
                  <a:solidFill>
                    <a:srgbClr val="FFFFFF"/>
                  </a:solidFill>
                </a:rPr>
                <a:t>AA+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239512" y="3227832"/>
              <a:ext cx="1005839" cy="914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50" b="0">
                  <a:solidFill>
                    <a:srgbClr val="D0E0F8"/>
                  </a:solidFill>
                </a:rPr>
                <a:t>Accessibility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D5F6F7C-CAE5-96F5-A117-DBEE0C2458D6}"/>
              </a:ext>
            </a:extLst>
          </p:cNvPr>
          <p:cNvGrpSpPr/>
          <p:nvPr/>
        </p:nvGrpSpPr>
        <p:grpSpPr>
          <a:xfrm>
            <a:off x="6314361" y="755904"/>
            <a:ext cx="5234043" cy="2498618"/>
            <a:chOff x="365759" y="5532120"/>
            <a:chExt cx="3803903" cy="2788918"/>
          </a:xfrm>
        </p:grpSpPr>
        <p:sp>
          <p:nvSpPr>
            <p:cNvPr id="36" name="Rectangle 35"/>
            <p:cNvSpPr/>
            <p:nvPr/>
          </p:nvSpPr>
          <p:spPr>
            <a:xfrm>
              <a:off x="365759" y="5532120"/>
              <a:ext cx="3803903" cy="2788918"/>
            </a:xfrm>
            <a:prstGeom prst="rect">
              <a:avLst/>
            </a:prstGeom>
            <a:solidFill>
              <a:srgbClr val="0F1B30"/>
            </a:solidFill>
            <a:ln w="7620">
              <a:solidFill>
                <a:srgbClr val="22C55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57200" y="5577840"/>
              <a:ext cx="333756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>
                  <a:solidFill>
                    <a:srgbClr val="22C55E"/>
                  </a:solidFill>
                </a:rPr>
                <a:t>Features Completed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93776" y="5925312"/>
              <a:ext cx="3264408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0" dirty="0">
                  <a:solidFill>
                    <a:srgbClr val="D0E0F8"/>
                  </a:solidFill>
                </a:rPr>
                <a:t>• End-to-end MERN full-stack app with 17 pages &amp; 70+ API endpoints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93776" y="6245352"/>
              <a:ext cx="3264408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0">
                  <a:solidFill>
                    <a:srgbClr val="D0E0F8"/>
                  </a:solidFill>
                </a:rPr>
                <a:t>• Real-time GIS mapping with 9 disaster zone overlays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93776" y="6565392"/>
              <a:ext cx="3264408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0">
                  <a:solidFill>
                    <a:srgbClr val="D0E0F8"/>
                  </a:solidFill>
                </a:rPr>
                <a:t>• SOS emergency broadcast with Socket.io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93776" y="6885431"/>
              <a:ext cx="3264408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0">
                  <a:solidFill>
                    <a:srgbClr val="D0E0F8"/>
                  </a:solidFill>
                </a:rPr>
                <a:t>• 10-language i18n including Urdu (RTL)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93776" y="7205471"/>
              <a:ext cx="3264408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0">
                  <a:solidFill>
                    <a:srgbClr val="D0E0F8"/>
                  </a:solidFill>
                </a:rPr>
                <a:t>• PWA with service worker &amp; offline fallback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93776" y="7525511"/>
              <a:ext cx="3264408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0" dirty="0">
                  <a:solidFill>
                    <a:srgbClr val="D0E0F8"/>
                  </a:solidFill>
                </a:rPr>
                <a:t>• Docker multi-stage build + Render deployment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93776" y="7845551"/>
              <a:ext cx="3264408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0" dirty="0">
                  <a:solidFill>
                    <a:srgbClr val="D0E0F8"/>
                  </a:solidFill>
                </a:rPr>
                <a:t>• 19 CSS files — </a:t>
              </a:r>
              <a:r>
                <a:rPr sz="900" b="0" dirty="0" err="1">
                  <a:solidFill>
                    <a:srgbClr val="D0E0F8"/>
                  </a:solidFill>
                </a:rPr>
                <a:t>glassmorphism</a:t>
              </a:r>
              <a:r>
                <a:rPr sz="900" b="0" dirty="0">
                  <a:solidFill>
                    <a:srgbClr val="D0E0F8"/>
                  </a:solidFill>
                </a:rPr>
                <a:t> design system, light/dark/neon themes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B5ED0DC-E1D0-8176-F8D8-532F40EA2047}"/>
              </a:ext>
            </a:extLst>
          </p:cNvPr>
          <p:cNvGrpSpPr/>
          <p:nvPr/>
        </p:nvGrpSpPr>
        <p:grpSpPr>
          <a:xfrm>
            <a:off x="152401" y="3607497"/>
            <a:ext cx="11598984" cy="2843782"/>
            <a:chOff x="4160520" y="5532120"/>
            <a:chExt cx="7315199" cy="2331720"/>
          </a:xfrm>
        </p:grpSpPr>
        <p:sp>
          <p:nvSpPr>
            <p:cNvPr id="45" name="Rectangle 44"/>
            <p:cNvSpPr/>
            <p:nvPr/>
          </p:nvSpPr>
          <p:spPr>
            <a:xfrm>
              <a:off x="4160520" y="5532120"/>
              <a:ext cx="3520440" cy="2331720"/>
            </a:xfrm>
            <a:prstGeom prst="rect">
              <a:avLst/>
            </a:prstGeom>
            <a:solidFill>
              <a:srgbClr val="0F1B30"/>
            </a:solidFill>
            <a:ln w="7620">
              <a:solidFill>
                <a:srgbClr val="3B82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251959" y="5577840"/>
              <a:ext cx="333756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>
                  <a:solidFill>
                    <a:srgbClr val="3B82F6"/>
                  </a:solidFill>
                </a:rPr>
                <a:t>Testing Results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288536" y="5925312"/>
              <a:ext cx="3264408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0">
                  <a:solidFill>
                    <a:srgbClr val="D0E0F8"/>
                  </a:solidFill>
                </a:rPr>
                <a:t>• 175+ unit tests passing — Vitest framework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288536" y="6245352"/>
              <a:ext cx="3264408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0">
                  <a:solidFill>
                    <a:srgbClr val="D0E0F8"/>
                  </a:solidFill>
                </a:rPr>
                <a:t>• 13 Playwright E2E tests (theme toggle, login, lang, password)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288536" y="6565392"/>
              <a:ext cx="3264408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0" dirty="0">
                  <a:solidFill>
                    <a:srgbClr val="D0E0F8"/>
                  </a:solidFill>
                </a:rPr>
                <a:t>• axe-core accessibility audit — WCAG AA+ compliant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288536" y="6885431"/>
              <a:ext cx="3264408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0">
                  <a:solidFill>
                    <a:srgbClr val="D0E0F8"/>
                  </a:solidFill>
                </a:rPr>
                <a:t>• Rate limiting tested per-endpoint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288536" y="7205471"/>
              <a:ext cx="3264408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0">
                  <a:solidFill>
                    <a:srgbClr val="D0E0F8"/>
                  </a:solidFill>
                </a:rPr>
                <a:t>• Lighthouse score: &gt;95 (target met)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4288536" y="7525511"/>
              <a:ext cx="3264408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0">
                  <a:solidFill>
                    <a:srgbClr val="D0E0F8"/>
                  </a:solidFill>
                </a:rPr>
                <a:t>• 0 unhandled errors in production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7955279" y="5532120"/>
              <a:ext cx="3520440" cy="2331720"/>
            </a:xfrm>
            <a:prstGeom prst="rect">
              <a:avLst/>
            </a:prstGeom>
            <a:solidFill>
              <a:srgbClr val="0F1B30"/>
            </a:solidFill>
            <a:ln w="7620">
              <a:solidFill>
                <a:srgbClr val="A78B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8046719" y="5577840"/>
              <a:ext cx="333756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>
                  <a:solidFill>
                    <a:srgbClr val="A78BFA"/>
                  </a:solidFill>
                </a:rPr>
                <a:t>Deliverables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8083296" y="5925312"/>
              <a:ext cx="3264408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0">
                  <a:solidFill>
                    <a:srgbClr val="D0E0F8"/>
                  </a:solidFill>
                </a:rPr>
                <a:t>✔ Production app: disasterhelper.dpdns.org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8083296" y="6245352"/>
              <a:ext cx="3264408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0">
                  <a:solidFill>
                    <a:srgbClr val="D0E0F8"/>
                  </a:solidFill>
                </a:rPr>
                <a:t>✔ GitHub repo with GitHub Actions CI/CD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8083296" y="6565392"/>
              <a:ext cx="3264408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0">
                  <a:solidFill>
                    <a:srgbClr val="D0E0F8"/>
                  </a:solidFill>
                </a:rPr>
                <a:t>✔ Docker Compose local setup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8083296" y="6885431"/>
              <a:ext cx="3264408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0">
                  <a:solidFill>
                    <a:srgbClr val="D0E0F8"/>
                  </a:solidFill>
                </a:rPr>
                <a:t>✔ Full documentation (DESIGN_SYSTEM.md, UI-UX-DESIGN.md)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8083296" y="7205471"/>
              <a:ext cx="3264408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0">
                  <a:solidFill>
                    <a:srgbClr val="D0E0F8"/>
                  </a:solidFill>
                </a:rPr>
                <a:t>✔ Server keepalive via inner + UptimeRobot (5-min pings)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8083296" y="7525511"/>
              <a:ext cx="3264408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0">
                  <a:solidFill>
                    <a:srgbClr val="D0E0F8"/>
                  </a:solidFill>
                </a:rPr>
                <a:t>✔ render.yaml + Dockerfile.server for Render deploy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B82F6"/>
                </a:solidFill>
              </a:rPr>
              <a:t>Disaster Relief Coordination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49039"/>
            <a:ext cx="121916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dirty="0">
                <a:solidFill>
                  <a:srgbClr val="D0E0F8"/>
                </a:solidFill>
              </a:rPr>
              <a:t> disasterhelper.dpdns.org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25196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3B8"/>
                </a:solidFill>
              </a:rPr>
              <a:t>Live · Feature-Complete · Production-Ready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1448</Words>
  <Application>Microsoft Office PowerPoint</Application>
  <PresentationFormat>Widescreen</PresentationFormat>
  <Paragraphs>186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ANSH S PATEL</cp:lastModifiedBy>
  <cp:revision>2</cp:revision>
  <dcterms:created xsi:type="dcterms:W3CDTF">2013-01-27T09:14:16Z</dcterms:created>
  <dcterms:modified xsi:type="dcterms:W3CDTF">2026-07-15T18:26:59Z</dcterms:modified>
  <cp:category/>
</cp:coreProperties>
</file>